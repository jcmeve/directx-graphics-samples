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lacial Indifference" charset="1" panose="00000000000000000000"/>
      <p:regular r:id="rId15"/>
    </p:embeddedFont>
    <p:embeddedFont>
      <p:font typeface="Garet Light" charset="1" panose="00000000000000000000"/>
      <p:regular r:id="rId16"/>
    </p:embeddedFont>
    <p:embeddedFont>
      <p:font typeface="윤고딕" charset="1" panose="020B0503000000000000"/>
      <p:regular r:id="rId17"/>
    </p:embeddedFont>
    <p:embeddedFont>
      <p:font typeface="Beautifully Delicious Script" charset="1" panose="00000500000000000000"/>
      <p:regular r:id="rId18"/>
    </p:embeddedFont>
    <p:embeddedFont>
      <p:font typeface="윤고딕 Bold" charset="1" panose="020B0803000000000000"/>
      <p:regular r:id="rId19"/>
    </p:embeddedFont>
    <p:embeddedFont>
      <p:font typeface="윤고딕 Light" charset="1" panose="020B05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VAHYzsQHZdc.mp4" Type="http://schemas.openxmlformats.org/officeDocument/2006/relationships/video"/><Relationship Id="rId4" Target="../media/VAHYzsQHZdc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07948" y="3363858"/>
            <a:ext cx="1027210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800" spc="-48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Interactive Raymarching Cloud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20382"/>
            <a:ext cx="297595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2026.10.23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71324" y="8720382"/>
            <a:ext cx="1487976" cy="53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5"/>
              </a:lnSpc>
              <a:spcBef>
                <a:spcPct val="0"/>
              </a:spcBef>
            </a:pPr>
            <a:r>
              <a:rPr lang="en-US" sz="3197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조창민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05225" y="1804670"/>
            <a:ext cx="3052600" cy="67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진행상황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05225" y="3187286"/>
            <a:ext cx="3052600" cy="67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다음 주 목표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77050" y="1193911"/>
            <a:ext cx="886159" cy="164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81"/>
              </a:lnSpc>
              <a:spcBef>
                <a:spcPct val="0"/>
              </a:spcBef>
            </a:pPr>
            <a:r>
              <a:rPr lang="en-US" sz="9629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7050" y="2647034"/>
            <a:ext cx="886159" cy="164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r>
              <a:rPr lang="en-US" sz="9629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3950" y="944123"/>
            <a:ext cx="2186274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목 차</a:t>
            </a:r>
          </a:p>
        </p:txBody>
      </p:sp>
      <p:sp>
        <p:nvSpPr>
          <p:cNvPr name="AutoShape 10" id="1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9183" y="4664028"/>
            <a:ext cx="6869633" cy="10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진행상황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670126" y="1337707"/>
            <a:ext cx="5868307" cy="3716350"/>
          </a:xfrm>
          <a:custGeom>
            <a:avLst/>
            <a:gdLst/>
            <a:ahLst/>
            <a:cxnLst/>
            <a:rect r="r" b="b" t="t" l="l"/>
            <a:pathLst>
              <a:path h="3716350" w="5868307">
                <a:moveTo>
                  <a:pt x="0" y="0"/>
                </a:moveTo>
                <a:lnTo>
                  <a:pt x="5868307" y="0"/>
                </a:lnTo>
                <a:lnTo>
                  <a:pt x="5868307" y="3716350"/>
                </a:lnTo>
                <a:lnTo>
                  <a:pt x="0" y="3716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0126" y="5404054"/>
            <a:ext cx="5868307" cy="3854246"/>
          </a:xfrm>
          <a:custGeom>
            <a:avLst/>
            <a:gdLst/>
            <a:ahLst/>
            <a:cxnLst/>
            <a:rect r="r" b="b" t="t" l="l"/>
            <a:pathLst>
              <a:path h="3854246" w="5868307">
                <a:moveTo>
                  <a:pt x="0" y="0"/>
                </a:moveTo>
                <a:lnTo>
                  <a:pt x="5868307" y="0"/>
                </a:lnTo>
                <a:lnTo>
                  <a:pt x="5868307" y="3854246"/>
                </a:lnTo>
                <a:lnTo>
                  <a:pt x="0" y="3854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78146" y="781050"/>
            <a:ext cx="388115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진행상황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3950" y="944123"/>
            <a:ext cx="4668915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단일 대기산란 구현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1991" y="4673600"/>
            <a:ext cx="4024366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태양으로 부터 주변 대기에 도달 후 Rayleigh, Mie산란으로 추가되는 빛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351569" y="4673600"/>
            <a:ext cx="402436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Rayleigh, Mie산란, 오존층으로 인해 소실되는 빛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31991" y="2352043"/>
            <a:ext cx="1505013" cy="278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97"/>
              </a:lnSpc>
              <a:spcBef>
                <a:spcPct val="0"/>
              </a:spcBef>
            </a:pPr>
            <a:r>
              <a:rPr lang="en-US" sz="16355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1569" y="2352043"/>
            <a:ext cx="1505013" cy="278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97"/>
              </a:lnSpc>
              <a:spcBef>
                <a:spcPct val="0"/>
              </a:spcBef>
            </a:pPr>
            <a:r>
              <a:rPr lang="en-US" sz="16355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1062" y="2165081"/>
            <a:ext cx="4849137" cy="2973339"/>
          </a:xfrm>
          <a:custGeom>
            <a:avLst/>
            <a:gdLst/>
            <a:ahLst/>
            <a:cxnLst/>
            <a:rect r="r" b="b" t="t" l="l"/>
            <a:pathLst>
              <a:path h="2973339" w="4849137">
                <a:moveTo>
                  <a:pt x="0" y="0"/>
                </a:moveTo>
                <a:lnTo>
                  <a:pt x="4849137" y="0"/>
                </a:lnTo>
                <a:lnTo>
                  <a:pt x="4849137" y="2973339"/>
                </a:lnTo>
                <a:lnTo>
                  <a:pt x="0" y="2973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1062" y="6288499"/>
            <a:ext cx="4901892" cy="1049379"/>
          </a:xfrm>
          <a:custGeom>
            <a:avLst/>
            <a:gdLst/>
            <a:ahLst/>
            <a:cxnLst/>
            <a:rect r="r" b="b" t="t" l="l"/>
            <a:pathLst>
              <a:path h="1049379" w="4901892">
                <a:moveTo>
                  <a:pt x="0" y="0"/>
                </a:moveTo>
                <a:lnTo>
                  <a:pt x="4901892" y="0"/>
                </a:lnTo>
                <a:lnTo>
                  <a:pt x="4901892" y="1049379"/>
                </a:lnTo>
                <a:lnTo>
                  <a:pt x="0" y="1049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0154" y="1738973"/>
            <a:ext cx="5780808" cy="3285540"/>
          </a:xfrm>
          <a:custGeom>
            <a:avLst/>
            <a:gdLst/>
            <a:ahLst/>
            <a:cxnLst/>
            <a:rect r="r" b="b" t="t" l="l"/>
            <a:pathLst>
              <a:path h="3285540" w="5780808">
                <a:moveTo>
                  <a:pt x="0" y="0"/>
                </a:moveTo>
                <a:lnTo>
                  <a:pt x="5780808" y="0"/>
                </a:lnTo>
                <a:lnTo>
                  <a:pt x="5780808" y="3285541"/>
                </a:lnTo>
                <a:lnTo>
                  <a:pt x="0" y="3285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40154" y="5400902"/>
            <a:ext cx="5780808" cy="3609446"/>
          </a:xfrm>
          <a:custGeom>
            <a:avLst/>
            <a:gdLst/>
            <a:ahLst/>
            <a:cxnLst/>
            <a:rect r="r" b="b" t="t" l="l"/>
            <a:pathLst>
              <a:path h="3609446" w="5780808">
                <a:moveTo>
                  <a:pt x="0" y="0"/>
                </a:moveTo>
                <a:lnTo>
                  <a:pt x="5780808" y="0"/>
                </a:lnTo>
                <a:lnTo>
                  <a:pt x="5780808" y="3609445"/>
                </a:lnTo>
                <a:lnTo>
                  <a:pt x="0" y="3609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78146" y="781050"/>
            <a:ext cx="388115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진행상황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3950" y="944123"/>
            <a:ext cx="4668915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다중 산란 구현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83448" y="5095875"/>
            <a:ext cx="4024366" cy="142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주변 대기에서 들어오는 2차 산란 L2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71062" y="7158000"/>
            <a:ext cx="700353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등비급수로 조사 지점에 들어오는 총 산란량 계산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23950" y="2180114"/>
            <a:ext cx="10734357" cy="670897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378146" y="781050"/>
            <a:ext cx="388115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진행상황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3950" y="944123"/>
            <a:ext cx="7043041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레퍼런스용 레이마칭  렌더링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9183" y="4664028"/>
            <a:ext cx="6869633" cy="10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다음 주 목표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90868" y="9717040"/>
            <a:ext cx="18869735" cy="120011"/>
            <a:chOff x="0" y="0"/>
            <a:chExt cx="4969807" cy="31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78146" y="781050"/>
            <a:ext cx="388115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다음 주 목표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331991" y="4673600"/>
            <a:ext cx="4024366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대기 원근감 및 SkyView LUT 구현으로 대기 구현 마무리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51569" y="4673600"/>
            <a:ext cx="402436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복셀 기반의 레이마칭 구름 구현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1147" y="4673600"/>
            <a:ext cx="402436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9191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구름 그림자가 대기산란에 미치는 영향 구현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1991" y="2352043"/>
            <a:ext cx="1505013" cy="278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97"/>
              </a:lnSpc>
              <a:spcBef>
                <a:spcPct val="0"/>
              </a:spcBef>
            </a:pPr>
            <a:r>
              <a:rPr lang="en-US" sz="16355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51569" y="2352043"/>
            <a:ext cx="1505013" cy="278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97"/>
              </a:lnSpc>
              <a:spcBef>
                <a:spcPct val="0"/>
              </a:spcBef>
            </a:pPr>
            <a:r>
              <a:rPr lang="en-US" sz="16355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71147" y="2352043"/>
            <a:ext cx="1505013" cy="278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97"/>
              </a:lnSpc>
              <a:spcBef>
                <a:spcPct val="0"/>
              </a:spcBef>
            </a:pPr>
            <a:r>
              <a:rPr lang="en-US" sz="16355" strike="noStrike" u="non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94003">
            <a:off x="5886222" y="2173229"/>
            <a:ext cx="6461515" cy="273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19"/>
              </a:lnSpc>
              <a:spcBef>
                <a:spcPct val="0"/>
              </a:spcBef>
            </a:pPr>
            <a:r>
              <a:rPr lang="en-US" sz="15942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DAHYIvkPwV4</dc:identifier>
  <dcterms:modified xsi:type="dcterms:W3CDTF">2011-08-01T06:04:30Z</dcterms:modified>
  <cp:revision>1</cp:revision>
  <dc:title>Interactive Raymarching Cloud</dc:title>
</cp:coreProperties>
</file>