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elegraf Bold" charset="1" panose="00000800000000000000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3d3g8mu99pzk9.cloudfront.net/AndrewSchneider/The-Real-time-Volumetric-Cloudscapes-of-Horizon-Zero-Dawn.pdf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54412" y="3897023"/>
            <a:ext cx="12179177" cy="117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 spc="-287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Interactive Raymarching Cloud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36573" y="1986280"/>
            <a:ext cx="7540764" cy="7467954"/>
            <a:chOff x="0" y="0"/>
            <a:chExt cx="1986045" cy="19668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6045" cy="1966869"/>
            </a:xfrm>
            <a:custGeom>
              <a:avLst/>
              <a:gdLst/>
              <a:ahLst/>
              <a:cxnLst/>
              <a:rect r="r" b="b" t="t" l="l"/>
              <a:pathLst>
                <a:path h="1966869" w="1986045">
                  <a:moveTo>
                    <a:pt x="57494" y="0"/>
                  </a:moveTo>
                  <a:lnTo>
                    <a:pt x="1928551" y="0"/>
                  </a:lnTo>
                  <a:cubicBezTo>
                    <a:pt x="1943799" y="0"/>
                    <a:pt x="1958423" y="6057"/>
                    <a:pt x="1969205" y="16840"/>
                  </a:cubicBezTo>
                  <a:cubicBezTo>
                    <a:pt x="1979987" y="27622"/>
                    <a:pt x="1986045" y="42246"/>
                    <a:pt x="1986045" y="57494"/>
                  </a:cubicBezTo>
                  <a:lnTo>
                    <a:pt x="1986045" y="1909375"/>
                  </a:lnTo>
                  <a:cubicBezTo>
                    <a:pt x="1986045" y="1924623"/>
                    <a:pt x="1979987" y="1939247"/>
                    <a:pt x="1969205" y="1950029"/>
                  </a:cubicBezTo>
                  <a:cubicBezTo>
                    <a:pt x="1958423" y="1960811"/>
                    <a:pt x="1943799" y="1966869"/>
                    <a:pt x="1928551" y="1966869"/>
                  </a:cubicBezTo>
                  <a:lnTo>
                    <a:pt x="57494" y="1966869"/>
                  </a:lnTo>
                  <a:cubicBezTo>
                    <a:pt x="42246" y="1966869"/>
                    <a:pt x="27622" y="1960811"/>
                    <a:pt x="16840" y="1950029"/>
                  </a:cubicBezTo>
                  <a:cubicBezTo>
                    <a:pt x="6057" y="1939247"/>
                    <a:pt x="0" y="1924623"/>
                    <a:pt x="0" y="1909375"/>
                  </a:cubicBezTo>
                  <a:lnTo>
                    <a:pt x="0" y="57494"/>
                  </a:lnTo>
                  <a:cubicBezTo>
                    <a:pt x="0" y="42246"/>
                    <a:pt x="6057" y="27622"/>
                    <a:pt x="16840" y="16840"/>
                  </a:cubicBezTo>
                  <a:cubicBezTo>
                    <a:pt x="27622" y="6057"/>
                    <a:pt x="42246" y="0"/>
                    <a:pt x="574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986045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19142" y="1986280"/>
            <a:ext cx="9026478" cy="5104629"/>
          </a:xfrm>
          <a:custGeom>
            <a:avLst/>
            <a:gdLst/>
            <a:ahLst/>
            <a:cxnLst/>
            <a:rect r="r" b="b" t="t" l="l"/>
            <a:pathLst>
              <a:path h="5104629" w="9026478">
                <a:moveTo>
                  <a:pt x="0" y="0"/>
                </a:moveTo>
                <a:lnTo>
                  <a:pt x="9026478" y="0"/>
                </a:lnTo>
                <a:lnTo>
                  <a:pt x="9026478" y="5104628"/>
                </a:lnTo>
                <a:lnTo>
                  <a:pt x="0" y="51046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698160" y="3582533"/>
            <a:ext cx="6217592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Raymarching을 통해 그려낸 고품질 구름이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바람이나 폭발에 영향을 받게 만들어 보는 것이 목표입니다.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98160" y="2490485"/>
            <a:ext cx="6458735" cy="70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spc="-21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상호작용 가능한 구름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36573" y="1986280"/>
            <a:ext cx="7540764" cy="7467954"/>
            <a:chOff x="0" y="0"/>
            <a:chExt cx="1986045" cy="19668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6045" cy="1966869"/>
            </a:xfrm>
            <a:custGeom>
              <a:avLst/>
              <a:gdLst/>
              <a:ahLst/>
              <a:cxnLst/>
              <a:rect r="r" b="b" t="t" l="l"/>
              <a:pathLst>
                <a:path h="1966869" w="1986045">
                  <a:moveTo>
                    <a:pt x="57494" y="0"/>
                  </a:moveTo>
                  <a:lnTo>
                    <a:pt x="1928551" y="0"/>
                  </a:lnTo>
                  <a:cubicBezTo>
                    <a:pt x="1943799" y="0"/>
                    <a:pt x="1958423" y="6057"/>
                    <a:pt x="1969205" y="16840"/>
                  </a:cubicBezTo>
                  <a:cubicBezTo>
                    <a:pt x="1979987" y="27622"/>
                    <a:pt x="1986045" y="42246"/>
                    <a:pt x="1986045" y="57494"/>
                  </a:cubicBezTo>
                  <a:lnTo>
                    <a:pt x="1986045" y="1909375"/>
                  </a:lnTo>
                  <a:cubicBezTo>
                    <a:pt x="1986045" y="1924623"/>
                    <a:pt x="1979987" y="1939247"/>
                    <a:pt x="1969205" y="1950029"/>
                  </a:cubicBezTo>
                  <a:cubicBezTo>
                    <a:pt x="1958423" y="1960811"/>
                    <a:pt x="1943799" y="1966869"/>
                    <a:pt x="1928551" y="1966869"/>
                  </a:cubicBezTo>
                  <a:lnTo>
                    <a:pt x="57494" y="1966869"/>
                  </a:lnTo>
                  <a:cubicBezTo>
                    <a:pt x="42246" y="1966869"/>
                    <a:pt x="27622" y="1960811"/>
                    <a:pt x="16840" y="1950029"/>
                  </a:cubicBezTo>
                  <a:cubicBezTo>
                    <a:pt x="6057" y="1939247"/>
                    <a:pt x="0" y="1924623"/>
                    <a:pt x="0" y="1909375"/>
                  </a:cubicBezTo>
                  <a:lnTo>
                    <a:pt x="0" y="57494"/>
                  </a:lnTo>
                  <a:cubicBezTo>
                    <a:pt x="0" y="42246"/>
                    <a:pt x="6057" y="27622"/>
                    <a:pt x="16840" y="16840"/>
                  </a:cubicBezTo>
                  <a:cubicBezTo>
                    <a:pt x="27622" y="6057"/>
                    <a:pt x="42246" y="0"/>
                    <a:pt x="574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986045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844182"/>
            <a:ext cx="7719157" cy="4328624"/>
          </a:xfrm>
          <a:custGeom>
            <a:avLst/>
            <a:gdLst/>
            <a:ahLst/>
            <a:cxnLst/>
            <a:rect r="r" b="b" t="t" l="l"/>
            <a:pathLst>
              <a:path h="4328624" w="7719157">
                <a:moveTo>
                  <a:pt x="0" y="0"/>
                </a:moveTo>
                <a:lnTo>
                  <a:pt x="7719157" y="0"/>
                </a:lnTo>
                <a:lnTo>
                  <a:pt x="7719157" y="4328624"/>
                </a:lnTo>
                <a:lnTo>
                  <a:pt x="0" y="43286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698160" y="4097269"/>
            <a:ext cx="6217592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카메라에서 시작해 전진해 나아가며 볼륨 밀도를 누적하는 기법입니다.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한 픽셀을 그리는데 많은 스텝에 걸쳐 값을 누적해야 하고, 라이팅을 위해 각 스텝 광원또한 계산해야 하기 때문에 자원을 많이 소모합니다.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698160" y="2490485"/>
            <a:ext cx="6458735" cy="131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spc="-21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Volumetric Raymarching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36573" y="1986280"/>
            <a:ext cx="7540764" cy="7467954"/>
            <a:chOff x="0" y="0"/>
            <a:chExt cx="1986045" cy="19668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6045" cy="1966869"/>
            </a:xfrm>
            <a:custGeom>
              <a:avLst/>
              <a:gdLst/>
              <a:ahLst/>
              <a:cxnLst/>
              <a:rect r="r" b="b" t="t" l="l"/>
              <a:pathLst>
                <a:path h="1966869" w="1986045">
                  <a:moveTo>
                    <a:pt x="57494" y="0"/>
                  </a:moveTo>
                  <a:lnTo>
                    <a:pt x="1928551" y="0"/>
                  </a:lnTo>
                  <a:cubicBezTo>
                    <a:pt x="1943799" y="0"/>
                    <a:pt x="1958423" y="6057"/>
                    <a:pt x="1969205" y="16840"/>
                  </a:cubicBezTo>
                  <a:cubicBezTo>
                    <a:pt x="1979987" y="27622"/>
                    <a:pt x="1986045" y="42246"/>
                    <a:pt x="1986045" y="57494"/>
                  </a:cubicBezTo>
                  <a:lnTo>
                    <a:pt x="1986045" y="1909375"/>
                  </a:lnTo>
                  <a:cubicBezTo>
                    <a:pt x="1986045" y="1924623"/>
                    <a:pt x="1979987" y="1939247"/>
                    <a:pt x="1969205" y="1950029"/>
                  </a:cubicBezTo>
                  <a:cubicBezTo>
                    <a:pt x="1958423" y="1960811"/>
                    <a:pt x="1943799" y="1966869"/>
                    <a:pt x="1928551" y="1966869"/>
                  </a:cubicBezTo>
                  <a:lnTo>
                    <a:pt x="57494" y="1966869"/>
                  </a:lnTo>
                  <a:cubicBezTo>
                    <a:pt x="42246" y="1966869"/>
                    <a:pt x="27622" y="1960811"/>
                    <a:pt x="16840" y="1950029"/>
                  </a:cubicBezTo>
                  <a:cubicBezTo>
                    <a:pt x="6057" y="1939247"/>
                    <a:pt x="0" y="1924623"/>
                    <a:pt x="0" y="1909375"/>
                  </a:cubicBezTo>
                  <a:lnTo>
                    <a:pt x="0" y="57494"/>
                  </a:lnTo>
                  <a:cubicBezTo>
                    <a:pt x="0" y="42246"/>
                    <a:pt x="6057" y="27622"/>
                    <a:pt x="16840" y="16840"/>
                  </a:cubicBezTo>
                  <a:cubicBezTo>
                    <a:pt x="27622" y="6057"/>
                    <a:pt x="42246" y="0"/>
                    <a:pt x="574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986045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016984"/>
            <a:ext cx="8115300" cy="5406544"/>
          </a:xfrm>
          <a:custGeom>
            <a:avLst/>
            <a:gdLst/>
            <a:ahLst/>
            <a:cxnLst/>
            <a:rect r="r" b="b" t="t" l="l"/>
            <a:pathLst>
              <a:path h="5406544" w="8115300">
                <a:moveTo>
                  <a:pt x="0" y="0"/>
                </a:moveTo>
                <a:lnTo>
                  <a:pt x="8115300" y="0"/>
                </a:lnTo>
                <a:lnTo>
                  <a:pt x="8115300" y="5406545"/>
                </a:lnTo>
                <a:lnTo>
                  <a:pt x="0" y="5406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698160" y="2490485"/>
            <a:ext cx="6458735" cy="70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spc="-21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상호작용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98160" y="3569771"/>
            <a:ext cx="6217592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속도에 의한 밀도 변화만을 계산하는 상호작용을 구현하게 될 경우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원본 위치의 구름 양이 감소하고, 이동 후 위치 구름의 양이 늘어나는 것으로 부자연스럽게 표현 될 것이라고 생각합니다.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36573" y="1986280"/>
            <a:ext cx="7540764" cy="7467954"/>
            <a:chOff x="0" y="0"/>
            <a:chExt cx="1986045" cy="19668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6045" cy="1966869"/>
            </a:xfrm>
            <a:custGeom>
              <a:avLst/>
              <a:gdLst/>
              <a:ahLst/>
              <a:cxnLst/>
              <a:rect r="r" b="b" t="t" l="l"/>
              <a:pathLst>
                <a:path h="1966869" w="1986045">
                  <a:moveTo>
                    <a:pt x="57494" y="0"/>
                  </a:moveTo>
                  <a:lnTo>
                    <a:pt x="1928551" y="0"/>
                  </a:lnTo>
                  <a:cubicBezTo>
                    <a:pt x="1943799" y="0"/>
                    <a:pt x="1958423" y="6057"/>
                    <a:pt x="1969205" y="16840"/>
                  </a:cubicBezTo>
                  <a:cubicBezTo>
                    <a:pt x="1979987" y="27622"/>
                    <a:pt x="1986045" y="42246"/>
                    <a:pt x="1986045" y="57494"/>
                  </a:cubicBezTo>
                  <a:lnTo>
                    <a:pt x="1986045" y="1909375"/>
                  </a:lnTo>
                  <a:cubicBezTo>
                    <a:pt x="1986045" y="1924623"/>
                    <a:pt x="1979987" y="1939247"/>
                    <a:pt x="1969205" y="1950029"/>
                  </a:cubicBezTo>
                  <a:cubicBezTo>
                    <a:pt x="1958423" y="1960811"/>
                    <a:pt x="1943799" y="1966869"/>
                    <a:pt x="1928551" y="1966869"/>
                  </a:cubicBezTo>
                  <a:lnTo>
                    <a:pt x="57494" y="1966869"/>
                  </a:lnTo>
                  <a:cubicBezTo>
                    <a:pt x="42246" y="1966869"/>
                    <a:pt x="27622" y="1960811"/>
                    <a:pt x="16840" y="1950029"/>
                  </a:cubicBezTo>
                  <a:cubicBezTo>
                    <a:pt x="6057" y="1939247"/>
                    <a:pt x="0" y="1924623"/>
                    <a:pt x="0" y="1909375"/>
                  </a:cubicBezTo>
                  <a:lnTo>
                    <a:pt x="0" y="57494"/>
                  </a:lnTo>
                  <a:cubicBezTo>
                    <a:pt x="0" y="42246"/>
                    <a:pt x="6057" y="27622"/>
                    <a:pt x="16840" y="16840"/>
                  </a:cubicBezTo>
                  <a:cubicBezTo>
                    <a:pt x="27622" y="6057"/>
                    <a:pt x="42246" y="0"/>
                    <a:pt x="574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986045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016984"/>
            <a:ext cx="8115300" cy="5406544"/>
          </a:xfrm>
          <a:custGeom>
            <a:avLst/>
            <a:gdLst/>
            <a:ahLst/>
            <a:cxnLst/>
            <a:rect r="r" b="b" t="t" l="l"/>
            <a:pathLst>
              <a:path h="5406544" w="8115300">
                <a:moveTo>
                  <a:pt x="0" y="0"/>
                </a:moveTo>
                <a:lnTo>
                  <a:pt x="8115300" y="0"/>
                </a:lnTo>
                <a:lnTo>
                  <a:pt x="8115300" y="5406545"/>
                </a:lnTo>
                <a:lnTo>
                  <a:pt x="0" y="5406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698160" y="2490485"/>
            <a:ext cx="6458735" cy="70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spc="-21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상호작용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98160" y="3569771"/>
            <a:ext cx="6217592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구름이 이동하기 전 위치의 노이즈를 얻어 올 수 있도록 구현하면 자연스러운 이동이 가능 할 것 이라고 생각합니다.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이를 구현하기 위해 위치 별 속도와 속도의 누적으로 원래 존재하던 위치의 좌표를 얻는 과정이 필요합니다.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36573" y="1986280"/>
            <a:ext cx="7540764" cy="7467954"/>
            <a:chOff x="0" y="0"/>
            <a:chExt cx="1986045" cy="19668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6045" cy="1966869"/>
            </a:xfrm>
            <a:custGeom>
              <a:avLst/>
              <a:gdLst/>
              <a:ahLst/>
              <a:cxnLst/>
              <a:rect r="r" b="b" t="t" l="l"/>
              <a:pathLst>
                <a:path h="1966869" w="1986045">
                  <a:moveTo>
                    <a:pt x="57494" y="0"/>
                  </a:moveTo>
                  <a:lnTo>
                    <a:pt x="1928551" y="0"/>
                  </a:lnTo>
                  <a:cubicBezTo>
                    <a:pt x="1943799" y="0"/>
                    <a:pt x="1958423" y="6057"/>
                    <a:pt x="1969205" y="16840"/>
                  </a:cubicBezTo>
                  <a:cubicBezTo>
                    <a:pt x="1979987" y="27622"/>
                    <a:pt x="1986045" y="42246"/>
                    <a:pt x="1986045" y="57494"/>
                  </a:cubicBezTo>
                  <a:lnTo>
                    <a:pt x="1986045" y="1909375"/>
                  </a:lnTo>
                  <a:cubicBezTo>
                    <a:pt x="1986045" y="1924623"/>
                    <a:pt x="1979987" y="1939247"/>
                    <a:pt x="1969205" y="1950029"/>
                  </a:cubicBezTo>
                  <a:cubicBezTo>
                    <a:pt x="1958423" y="1960811"/>
                    <a:pt x="1943799" y="1966869"/>
                    <a:pt x="1928551" y="1966869"/>
                  </a:cubicBezTo>
                  <a:lnTo>
                    <a:pt x="57494" y="1966869"/>
                  </a:lnTo>
                  <a:cubicBezTo>
                    <a:pt x="42246" y="1966869"/>
                    <a:pt x="27622" y="1960811"/>
                    <a:pt x="16840" y="1950029"/>
                  </a:cubicBezTo>
                  <a:cubicBezTo>
                    <a:pt x="6057" y="1939247"/>
                    <a:pt x="0" y="1924623"/>
                    <a:pt x="0" y="1909375"/>
                  </a:cubicBezTo>
                  <a:lnTo>
                    <a:pt x="0" y="57494"/>
                  </a:lnTo>
                  <a:cubicBezTo>
                    <a:pt x="0" y="42246"/>
                    <a:pt x="6057" y="27622"/>
                    <a:pt x="16840" y="16840"/>
                  </a:cubicBezTo>
                  <a:cubicBezTo>
                    <a:pt x="27622" y="6057"/>
                    <a:pt x="42246" y="0"/>
                    <a:pt x="574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986045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27977" y="2276272"/>
            <a:ext cx="8607499" cy="5734455"/>
          </a:xfrm>
          <a:custGeom>
            <a:avLst/>
            <a:gdLst/>
            <a:ahLst/>
            <a:cxnLst/>
            <a:rect r="r" b="b" t="t" l="l"/>
            <a:pathLst>
              <a:path h="5734455" w="8607499">
                <a:moveTo>
                  <a:pt x="0" y="0"/>
                </a:moveTo>
                <a:lnTo>
                  <a:pt x="8607499" y="0"/>
                </a:lnTo>
                <a:lnTo>
                  <a:pt x="8607499" y="5734456"/>
                </a:lnTo>
                <a:lnTo>
                  <a:pt x="0" y="573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27977" y="2267918"/>
          <a:ext cx="8607499" cy="5742809"/>
        </p:xfrm>
        <a:graphic>
          <a:graphicData uri="http://schemas.openxmlformats.org/drawingml/2006/table">
            <a:tbl>
              <a:tblPr/>
              <a:tblGrid>
                <a:gridCol w="956389"/>
                <a:gridCol w="956389"/>
                <a:gridCol w="956389"/>
                <a:gridCol w="956389"/>
                <a:gridCol w="956389"/>
                <a:gridCol w="956389"/>
                <a:gridCol w="956389"/>
                <a:gridCol w="956389"/>
                <a:gridCol w="956389"/>
              </a:tblGrid>
              <a:tr h="11485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85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85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85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85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698160" y="2490485"/>
            <a:ext cx="6458735" cy="70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spc="-21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구현방안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98160" y="3569771"/>
            <a:ext cx="6217592" cy="482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단순히 속도를 거꾸로 적분하는 방식으로는 바람이 발생 한 후 시간흐름에 따라 적분량이 증가하므로 불가능한 방식입니다.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이를 구현하기 위한 방식으로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변위를 격자 필드에 누적해 Raymarching 조회 시 누적된 변위값을 이용해 원래 존재하던 위치의 노이즈를 사용하는 방법을 우선 적용해 보려고 합니다.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36573" y="1986280"/>
            <a:ext cx="7540764" cy="7467954"/>
            <a:chOff x="0" y="0"/>
            <a:chExt cx="1986045" cy="19668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6045" cy="1966869"/>
            </a:xfrm>
            <a:custGeom>
              <a:avLst/>
              <a:gdLst/>
              <a:ahLst/>
              <a:cxnLst/>
              <a:rect r="r" b="b" t="t" l="l"/>
              <a:pathLst>
                <a:path h="1966869" w="1986045">
                  <a:moveTo>
                    <a:pt x="57494" y="0"/>
                  </a:moveTo>
                  <a:lnTo>
                    <a:pt x="1928551" y="0"/>
                  </a:lnTo>
                  <a:cubicBezTo>
                    <a:pt x="1943799" y="0"/>
                    <a:pt x="1958423" y="6057"/>
                    <a:pt x="1969205" y="16840"/>
                  </a:cubicBezTo>
                  <a:cubicBezTo>
                    <a:pt x="1979987" y="27622"/>
                    <a:pt x="1986045" y="42246"/>
                    <a:pt x="1986045" y="57494"/>
                  </a:cubicBezTo>
                  <a:lnTo>
                    <a:pt x="1986045" y="1909375"/>
                  </a:lnTo>
                  <a:cubicBezTo>
                    <a:pt x="1986045" y="1924623"/>
                    <a:pt x="1979987" y="1939247"/>
                    <a:pt x="1969205" y="1950029"/>
                  </a:cubicBezTo>
                  <a:cubicBezTo>
                    <a:pt x="1958423" y="1960811"/>
                    <a:pt x="1943799" y="1966869"/>
                    <a:pt x="1928551" y="1966869"/>
                  </a:cubicBezTo>
                  <a:lnTo>
                    <a:pt x="57494" y="1966869"/>
                  </a:lnTo>
                  <a:cubicBezTo>
                    <a:pt x="42246" y="1966869"/>
                    <a:pt x="27622" y="1960811"/>
                    <a:pt x="16840" y="1950029"/>
                  </a:cubicBezTo>
                  <a:cubicBezTo>
                    <a:pt x="6057" y="1939247"/>
                    <a:pt x="0" y="1924623"/>
                    <a:pt x="0" y="1909375"/>
                  </a:cubicBezTo>
                  <a:lnTo>
                    <a:pt x="0" y="57494"/>
                  </a:lnTo>
                  <a:cubicBezTo>
                    <a:pt x="0" y="42246"/>
                    <a:pt x="6057" y="27622"/>
                    <a:pt x="16840" y="16840"/>
                  </a:cubicBezTo>
                  <a:cubicBezTo>
                    <a:pt x="27622" y="6057"/>
                    <a:pt x="42246" y="0"/>
                    <a:pt x="574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986045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698160" y="2490485"/>
            <a:ext cx="6458735" cy="70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spc="-21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렌더링 성능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98160" y="3569771"/>
            <a:ext cx="6217592" cy="613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조사 과정 중 많이 참고한 Horizon Zero Dawn의 </a:t>
            </a:r>
            <a:r>
              <a:rPr lang="en-US" sz="24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2" tooltip="https://d3d3g8mu99pzk9.cloudfront.net/AndrewSchneider/The-Real-time-Volumetric-Cloudscapes-of-Horizon-Zero-Dawn.pdf"/>
              </a:rPr>
              <a:t>자료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를 보면 한 프레임에 모든 픽셀을 계산 할 경우 20ms의 시간을 소모하게 되어 1/16픽셀만 갱신하는 방식으로 구현하였다고 합니다. 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상호작용이 없는 구름의 경우 큰 문제가 되지 않을 수 있지만 상호작용을 적용하게 될 경우 느린 갱신은 시각적으로 어색해 보일 수 있다고 생각됩니다.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어색하게 보이지 않으면서도 성능 부하를 줄일 수 있는 방법을 찾는 것이 가장 어려운 부분이 될 것 이라고 생각합니다.</a:t>
            </a: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36573" y="1986280"/>
            <a:ext cx="7540764" cy="7467954"/>
            <a:chOff x="0" y="0"/>
            <a:chExt cx="1986045" cy="19668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6045" cy="1966869"/>
            </a:xfrm>
            <a:custGeom>
              <a:avLst/>
              <a:gdLst/>
              <a:ahLst/>
              <a:cxnLst/>
              <a:rect r="r" b="b" t="t" l="l"/>
              <a:pathLst>
                <a:path h="1966869" w="1986045">
                  <a:moveTo>
                    <a:pt x="57494" y="0"/>
                  </a:moveTo>
                  <a:lnTo>
                    <a:pt x="1928551" y="0"/>
                  </a:lnTo>
                  <a:cubicBezTo>
                    <a:pt x="1943799" y="0"/>
                    <a:pt x="1958423" y="6057"/>
                    <a:pt x="1969205" y="16840"/>
                  </a:cubicBezTo>
                  <a:cubicBezTo>
                    <a:pt x="1979987" y="27622"/>
                    <a:pt x="1986045" y="42246"/>
                    <a:pt x="1986045" y="57494"/>
                  </a:cubicBezTo>
                  <a:lnTo>
                    <a:pt x="1986045" y="1909375"/>
                  </a:lnTo>
                  <a:cubicBezTo>
                    <a:pt x="1986045" y="1924623"/>
                    <a:pt x="1979987" y="1939247"/>
                    <a:pt x="1969205" y="1950029"/>
                  </a:cubicBezTo>
                  <a:cubicBezTo>
                    <a:pt x="1958423" y="1960811"/>
                    <a:pt x="1943799" y="1966869"/>
                    <a:pt x="1928551" y="1966869"/>
                  </a:cubicBezTo>
                  <a:lnTo>
                    <a:pt x="57494" y="1966869"/>
                  </a:lnTo>
                  <a:cubicBezTo>
                    <a:pt x="42246" y="1966869"/>
                    <a:pt x="27622" y="1960811"/>
                    <a:pt x="16840" y="1950029"/>
                  </a:cubicBezTo>
                  <a:cubicBezTo>
                    <a:pt x="6057" y="1939247"/>
                    <a:pt x="0" y="1924623"/>
                    <a:pt x="0" y="1909375"/>
                  </a:cubicBezTo>
                  <a:lnTo>
                    <a:pt x="0" y="57494"/>
                  </a:lnTo>
                  <a:cubicBezTo>
                    <a:pt x="0" y="42246"/>
                    <a:pt x="6057" y="27622"/>
                    <a:pt x="16840" y="16840"/>
                  </a:cubicBezTo>
                  <a:cubicBezTo>
                    <a:pt x="27622" y="6057"/>
                    <a:pt x="42246" y="0"/>
                    <a:pt x="574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986045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445978"/>
            <a:ext cx="6548557" cy="6548557"/>
          </a:xfrm>
          <a:custGeom>
            <a:avLst/>
            <a:gdLst/>
            <a:ahLst/>
            <a:cxnLst/>
            <a:rect r="r" b="b" t="t" l="l"/>
            <a:pathLst>
              <a:path h="6548557" w="6548557">
                <a:moveTo>
                  <a:pt x="0" y="0"/>
                </a:moveTo>
                <a:lnTo>
                  <a:pt x="6548557" y="0"/>
                </a:lnTo>
                <a:lnTo>
                  <a:pt x="6548557" y="6548557"/>
                </a:lnTo>
                <a:lnTo>
                  <a:pt x="0" y="65485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698160" y="3569771"/>
            <a:ext cx="6217592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주제 선정 후 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비행기가 통과한 구름,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난류 구름 등 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여러 실제 사례들을 찾아보았지만 시각적으로 크게 와 닿지 않았습니다.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구름을 반으로 가르는 상황을 자연스럽게 보이게 할 수 있는지 우선 적용 해본 후 좀 더 인상적인 효과를 구현해보고 싶습니다.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98160" y="2490485"/>
            <a:ext cx="6458735" cy="70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spc="-21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아쉬운 현실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54412" y="3687473"/>
            <a:ext cx="12179177" cy="250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2"/>
              </a:lnSpc>
              <a:spcBef>
                <a:spcPct val="0"/>
              </a:spcBef>
            </a:pPr>
            <a:r>
              <a:rPr lang="en-US" b="true" sz="13787" spc="-62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DAHYIvkPwV4</dc:identifier>
  <dcterms:modified xsi:type="dcterms:W3CDTF">2011-08-01T06:04:30Z</dcterms:modified>
  <cp:revision>1</cp:revision>
  <dc:title>Interactive Raymarching Cloud</dc:title>
</cp:coreProperties>
</file>