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7b6a6288-e0bc-99b6-2365-8533d2407584}">
          <p14:sldIdLst>
            <p14:sldId id="256"/>
          </p14:sldIdLst>
        </p14:section>
        <p14:section name="개요" id="{38e07938-e0b5-701c-5dff-9d01ff9b1eb9}">
          <p14:sldIdLst>
            <p14:sldId id="257"/>
            <p14:sldId id="258"/>
          </p14:sldIdLst>
        </p14:section>
        <p14:section name="대기 원근과 지형" id="{0c2cdd89-cb66-7eb0-7bc6-0b4d2eaed420}">
          <p14:sldIdLst>
            <p14:sldId id="259"/>
            <p14:sldId id="260"/>
            <p14:sldId id="261"/>
            <p14:sldId id="262"/>
          </p14:sldIdLst>
        </p14:section>
        <p14:section name="복셀 구름" id="{0f72c903-4be3-1cc3-9d29-fc497dca3a1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구름 그림자" id="{cd62a7de-cd4a-48e7-60cc-39707ab09379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마무리" id="{5d4d8eed-c6d8-77e6-56fa-b5f8de167f25}">
          <p14:sldIdLst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6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264A"/>
                </a:solidFill>
                <a:latin typeface="+mn-lt"/>
              </a:rPr>
              <a:t>Profile에 따른 최종 밀도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노이즈 0.2</c:v>
                </c:pt>
              </c:strCache>
            </c:strRef>
          </c:tx>
          <c:spPr>
            <a:solidFill>
              <a:srgbClr val="3FA7D6"/>
            </a:solidFill>
            <a:ln w="25400" cap="flat">
              <a:solidFill>
                <a:srgbClr val="3FA7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A7D6"/>
              </a:solidFill>
              <a:ln w="9525" cap="flat">
                <a:solidFill>
                  <a:srgbClr val="3FA7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0.00</c:v>
                  </c:pt>
                  <c:pt idx="1">
                    <c:v>0.10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  <c:pt idx="9">
                    <c:v>0.90</c:v>
                  </c:pt>
                  <c:pt idx="10">
                    <c:v>1.00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0.125</c:v>
                </c:pt>
                <c:pt idx="4">
                  <c:v>0.25</c:v>
                </c:pt>
                <c:pt idx="5">
                  <c:v>0.375</c:v>
                </c:pt>
                <c:pt idx="6">
                  <c:v>0.5</c:v>
                </c:pt>
                <c:pt idx="7">
                  <c:v>0.625</c:v>
                </c:pt>
                <c:pt idx="8">
                  <c:v>0.75</c:v>
                </c:pt>
                <c:pt idx="9">
                  <c:v>0.875</c:v>
                </c:pt>
                <c:pt idx="10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노이즈 0.5</c:v>
                </c:pt>
              </c:strCache>
            </c:strRef>
          </c:tx>
          <c:spPr>
            <a:solidFill>
              <a:srgbClr val="7A6FD0"/>
            </a:solidFill>
            <a:ln w="25400" cap="flat">
              <a:solidFill>
                <a:srgbClr val="7A6F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6FD0"/>
              </a:solidFill>
              <a:ln w="9525" cap="flat">
                <a:solidFill>
                  <a:srgbClr val="7A6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0.00</c:v>
                  </c:pt>
                  <c:pt idx="1">
                    <c:v>0.10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  <c:pt idx="9">
                    <c:v>0.90</c:v>
                  </c:pt>
                  <c:pt idx="10">
                    <c:v>1.00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0.2</c:v>
                </c:pt>
                <c:pt idx="7">
                  <c:v>0.4</c:v>
                </c:pt>
                <c:pt idx="8">
                  <c:v>0.6</c:v>
                </c:pt>
                <c:pt idx="9">
                  <c:v>0.8</c:v>
                </c:pt>
                <c:pt idx="10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노이즈 0.8</c:v>
                </c:pt>
              </c:strCache>
            </c:strRef>
          </c:tx>
          <c:spPr>
            <a:solidFill>
              <a:srgbClr val="F28C38"/>
            </a:solidFill>
            <a:ln w="25400" cap="flat">
              <a:solidFill>
                <a:srgbClr val="F28C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38"/>
              </a:solidFill>
              <a:ln w="9525" cap="flat">
                <a:solidFill>
                  <a:srgbClr val="F28C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0.00</c:v>
                  </c:pt>
                  <c:pt idx="1">
                    <c:v>0.10</c:v>
                  </c:pt>
                  <c:pt idx="2">
                    <c:v>0.20</c:v>
                  </c:pt>
                  <c:pt idx="3">
                    <c:v>0.30</c:v>
                  </c:pt>
                  <c:pt idx="4">
                    <c:v>0.40</c:v>
                  </c:pt>
                  <c:pt idx="5">
                    <c:v>0.50</c:v>
                  </c:pt>
                  <c:pt idx="6">
                    <c:v>0.60</c:v>
                  </c:pt>
                  <c:pt idx="7">
                    <c:v>0.70</c:v>
                  </c:pt>
                  <c:pt idx="8">
                    <c:v>0.80</c:v>
                  </c:pt>
                  <c:pt idx="9">
                    <c:v>0.90</c:v>
                  </c:pt>
                  <c:pt idx="10">
                    <c:v>1.00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0.5</c:v>
                </c:pt>
                <c:pt idx="10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6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8A93A6"/>
                    </a:solidFill>
                    <a:latin typeface="+mn-lt"/>
                  </a:rPr>
                  <a:t>Profile (0 = 가장자리, 1 = 내부)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D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6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264A"/>
                </a:solidFill>
                <a:latin typeface="+mn-lt"/>
              </a:rPr>
              <a:t>한 스텝이 산란시키는 빛의 비율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단순 합 (σΔt)</c:v>
                </c:pt>
              </c:strCache>
            </c:strRef>
          </c:tx>
          <c:spPr>
            <a:solidFill>
              <a:srgbClr val="D95B5B"/>
            </a:solidFill>
            <a:ln w="25400" cap="flat">
              <a:solidFill>
                <a:srgbClr val="D95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B5B"/>
              </a:solidFill>
              <a:ln w="9525" cap="flat">
                <a:solidFill>
                  <a:srgbClr val="D95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0.75</c:v>
                  </c:pt>
                  <c:pt idx="4">
                    <c:v>1.00</c:v>
                  </c:pt>
                  <c:pt idx="5">
                    <c:v>1.25</c:v>
                  </c:pt>
                  <c:pt idx="6">
                    <c:v>1.50</c:v>
                  </c:pt>
                  <c:pt idx="7">
                    <c:v>1.75</c:v>
                  </c:pt>
                  <c:pt idx="8">
                    <c:v>2.00</c:v>
                  </c:pt>
                  <c:pt idx="9">
                    <c:v>2.25</c:v>
                  </c:pt>
                  <c:pt idx="10">
                    <c:v>2.50</c:v>
                  </c:pt>
                  <c:pt idx="11">
                    <c:v>2.75</c:v>
                  </c:pt>
                  <c:pt idx="12">
                    <c:v>3.00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정확한 적분 (1 − e^−σΔt)</c:v>
                </c:pt>
              </c:strCache>
            </c:strRef>
          </c:tx>
          <c:spPr>
            <a:solidFill>
              <a:srgbClr val="4FAE7E"/>
            </a:solidFill>
            <a:ln w="25400" cap="flat">
              <a:solidFill>
                <a:srgbClr val="4FAE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FAE7E"/>
              </a:solidFill>
              <a:ln w="9525" cap="flat">
                <a:solidFill>
                  <a:srgbClr val="4FAE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0.00</c:v>
                  </c:pt>
                  <c:pt idx="1">
                    <c:v>0.25</c:v>
                  </c:pt>
                  <c:pt idx="2">
                    <c:v>0.50</c:v>
                  </c:pt>
                  <c:pt idx="3">
                    <c:v>0.75</c:v>
                  </c:pt>
                  <c:pt idx="4">
                    <c:v>1.00</c:v>
                  </c:pt>
                  <c:pt idx="5">
                    <c:v>1.25</c:v>
                  </c:pt>
                  <c:pt idx="6">
                    <c:v>1.50</c:v>
                  </c:pt>
                  <c:pt idx="7">
                    <c:v>1.75</c:v>
                  </c:pt>
                  <c:pt idx="8">
                    <c:v>2.00</c:v>
                  </c:pt>
                  <c:pt idx="9">
                    <c:v>2.25</c:v>
                  </c:pt>
                  <c:pt idx="10">
                    <c:v>2.50</c:v>
                  </c:pt>
                  <c:pt idx="11">
                    <c:v>2.75</c:v>
                  </c:pt>
                  <c:pt idx="12">
                    <c:v>3.00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0.2212</c:v>
                </c:pt>
                <c:pt idx="2">
                  <c:v>0.3935</c:v>
                </c:pt>
                <c:pt idx="3">
                  <c:v>0.5276</c:v>
                </c:pt>
                <c:pt idx="4">
                  <c:v>0.6321</c:v>
                </c:pt>
                <c:pt idx="5">
                  <c:v>0.7135</c:v>
                </c:pt>
                <c:pt idx="6">
                  <c:v>0.7769</c:v>
                </c:pt>
                <c:pt idx="7">
                  <c:v>0.8262</c:v>
                </c:pt>
                <c:pt idx="8">
                  <c:v>0.8647</c:v>
                </c:pt>
                <c:pt idx="9">
                  <c:v>0.8946</c:v>
                </c:pt>
                <c:pt idx="10">
                  <c:v>0.9179</c:v>
                </c:pt>
                <c:pt idx="11">
                  <c:v>0.9361</c:v>
                </c:pt>
                <c:pt idx="12">
                  <c:v>0.9502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6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8A93A6"/>
                    </a:solidFill>
                    <a:latin typeface="+mn-lt"/>
                  </a:rPr>
                  <a:t>스텝 광학 깊이 σΔt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D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6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264A"/>
                </a:solidFill>
                <a:latin typeface="+mn-lt"/>
              </a:rPr>
              <a:t>각도별 위상 함수 값 (로그 스케일)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전방 HG(0.8)</c:v>
                </c:pt>
              </c:strCache>
            </c:strRef>
          </c:tx>
          <c:spPr>
            <a:solidFill>
              <a:srgbClr val="3FA7D6"/>
            </a:solidFill>
            <a:ln w="25400" cap="flat">
              <a:solidFill>
                <a:srgbClr val="3FA7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A7D6"/>
              </a:solidFill>
              <a:ln w="9525" cap="flat">
                <a:solidFill>
                  <a:srgbClr val="3FA7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3.581</c:v>
                </c:pt>
                <c:pt idx="1">
                  <c:v>1.7567</c:v>
                </c:pt>
                <c:pt idx="2">
                  <c:v>0.5681</c:v>
                </c:pt>
                <c:pt idx="3">
                  <c:v>0.2233</c:v>
                </c:pt>
                <c:pt idx="4">
                  <c:v>0.1074</c:v>
                </c:pt>
                <c:pt idx="5">
                  <c:v>0.0599</c:v>
                </c:pt>
                <c:pt idx="6">
                  <c:v>0.0372</c:v>
                </c:pt>
                <c:pt idx="7">
                  <c:v>0.0251</c:v>
                </c:pt>
                <c:pt idx="8">
                  <c:v>0.018</c:v>
                </c:pt>
                <c:pt idx="9">
                  <c:v>0.0136</c:v>
                </c:pt>
                <c:pt idx="10">
                  <c:v>0.0108</c:v>
                </c:pt>
                <c:pt idx="11">
                  <c:v>0.0089</c:v>
                </c:pt>
                <c:pt idx="12">
                  <c:v>0.0075</c:v>
                </c:pt>
                <c:pt idx="13">
                  <c:v>0.0066</c:v>
                </c:pt>
                <c:pt idx="14">
                  <c:v>0.0059</c:v>
                </c:pt>
                <c:pt idx="15">
                  <c:v>0.0054</c:v>
                </c:pt>
                <c:pt idx="16">
                  <c:v>0.0051</c:v>
                </c:pt>
                <c:pt idx="17">
                  <c:v>0.005</c:v>
                </c:pt>
                <c:pt idx="18">
                  <c:v>0.0049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후방 HG(−0.2)</c:v>
                </c:pt>
              </c:strCache>
            </c:strRef>
          </c:tx>
          <c:spPr>
            <a:solidFill>
              <a:srgbClr val="7A6FD0"/>
            </a:solidFill>
            <a:ln w="25400" cap="flat">
              <a:solidFill>
                <a:srgbClr val="7A6F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6FD0"/>
              </a:solidFill>
              <a:ln w="9525" cap="flat">
                <a:solidFill>
                  <a:srgbClr val="7A6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0.0442</c:v>
                </c:pt>
                <c:pt idx="1">
                  <c:v>0.0445</c:v>
                </c:pt>
                <c:pt idx="2">
                  <c:v>0.0453</c:v>
                </c:pt>
                <c:pt idx="3">
                  <c:v>0.0468</c:v>
                </c:pt>
                <c:pt idx="4">
                  <c:v>0.0489</c:v>
                </c:pt>
                <c:pt idx="5">
                  <c:v>0.0517</c:v>
                </c:pt>
                <c:pt idx="6">
                  <c:v>0.0553</c:v>
                </c:pt>
                <c:pt idx="7">
                  <c:v>0.0598</c:v>
                </c:pt>
                <c:pt idx="8">
                  <c:v>0.0654</c:v>
                </c:pt>
                <c:pt idx="9">
                  <c:v>0.072</c:v>
                </c:pt>
                <c:pt idx="10">
                  <c:v>0.0799</c:v>
                </c:pt>
                <c:pt idx="11">
                  <c:v>0.089</c:v>
                </c:pt>
                <c:pt idx="12">
                  <c:v>0.0992</c:v>
                </c:pt>
                <c:pt idx="13">
                  <c:v>0.1103</c:v>
                </c:pt>
                <c:pt idx="14">
                  <c:v>0.1216</c:v>
                </c:pt>
                <c:pt idx="15">
                  <c:v>0.1323</c:v>
                </c:pt>
                <c:pt idx="16">
                  <c:v>0.1412</c:v>
                </c:pt>
                <c:pt idx="17">
                  <c:v>0.1471</c:v>
                </c:pt>
                <c:pt idx="18">
                  <c:v>0.1492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사용 중 (반반 혼합)</c:v>
                </c:pt>
              </c:strCache>
            </c:strRef>
          </c:tx>
          <c:spPr>
            <a:solidFill>
              <a:srgbClr val="F28C38"/>
            </a:solidFill>
            <a:ln w="25400" cap="flat">
              <a:solidFill>
                <a:srgbClr val="F28C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38"/>
              </a:solidFill>
              <a:ln w="9525" cap="flat">
                <a:solidFill>
                  <a:srgbClr val="F28C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</c:lvl>
              </c:multiLvlStrCache>
            </c:multiLvl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1.8126</c:v>
                </c:pt>
                <c:pt idx="1">
                  <c:v>0.9006</c:v>
                </c:pt>
                <c:pt idx="2">
                  <c:v>0.3067</c:v>
                </c:pt>
                <c:pt idx="3">
                  <c:v>0.1351</c:v>
                </c:pt>
                <c:pt idx="4">
                  <c:v>0.0782</c:v>
                </c:pt>
                <c:pt idx="5">
                  <c:v>0.0558</c:v>
                </c:pt>
                <c:pt idx="6">
                  <c:v>0.0463</c:v>
                </c:pt>
                <c:pt idx="7">
                  <c:v>0.0425</c:v>
                </c:pt>
                <c:pt idx="8">
                  <c:v>0.0417</c:v>
                </c:pt>
                <c:pt idx="9">
                  <c:v>0.0428</c:v>
                </c:pt>
                <c:pt idx="10">
                  <c:v>0.0453</c:v>
                </c:pt>
                <c:pt idx="11">
                  <c:v>0.0489</c:v>
                </c:pt>
                <c:pt idx="12">
                  <c:v>0.0534</c:v>
                </c:pt>
                <c:pt idx="13">
                  <c:v>0.0584</c:v>
                </c:pt>
                <c:pt idx="14">
                  <c:v>0.0637</c:v>
                </c:pt>
                <c:pt idx="15">
                  <c:v>0.0688</c:v>
                </c:pt>
                <c:pt idx="16">
                  <c:v>0.0731</c:v>
                </c:pt>
                <c:pt idx="17">
                  <c:v>0.076</c:v>
                </c:pt>
                <c:pt idx="18">
                  <c:v>0.0771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등방성</c:v>
                </c:pt>
              </c:strCache>
            </c:strRef>
          </c:tx>
          <c:spPr>
            <a:solidFill>
              <a:srgbClr val="8A93A6"/>
            </a:solidFill>
            <a:ln w="25400" cap="flat">
              <a:solidFill>
                <a:srgbClr val="8A93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3A6"/>
              </a:solidFill>
              <a:ln w="9525" cap="flat">
                <a:solidFill>
                  <a:srgbClr val="8A93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</c:lvl>
              </c:multiLvlStrCache>
            </c:multiLvl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0.0796</c:v>
                </c:pt>
                <c:pt idx="1">
                  <c:v>0.0796</c:v>
                </c:pt>
                <c:pt idx="2">
                  <c:v>0.0796</c:v>
                </c:pt>
                <c:pt idx="3">
                  <c:v>0.0796</c:v>
                </c:pt>
                <c:pt idx="4">
                  <c:v>0.0796</c:v>
                </c:pt>
                <c:pt idx="5">
                  <c:v>0.0796</c:v>
                </c:pt>
                <c:pt idx="6">
                  <c:v>0.0796</c:v>
                </c:pt>
                <c:pt idx="7">
                  <c:v>0.0796</c:v>
                </c:pt>
                <c:pt idx="8">
                  <c:v>0.0796</c:v>
                </c:pt>
                <c:pt idx="9">
                  <c:v>0.0796</c:v>
                </c:pt>
                <c:pt idx="10">
                  <c:v>0.0796</c:v>
                </c:pt>
                <c:pt idx="11">
                  <c:v>0.0796</c:v>
                </c:pt>
                <c:pt idx="12">
                  <c:v>0.0796</c:v>
                </c:pt>
                <c:pt idx="13">
                  <c:v>0.0796</c:v>
                </c:pt>
                <c:pt idx="14">
                  <c:v>0.0796</c:v>
                </c:pt>
                <c:pt idx="15">
                  <c:v>0.0796</c:v>
                </c:pt>
                <c:pt idx="16">
                  <c:v>0.0796</c:v>
                </c:pt>
                <c:pt idx="17">
                  <c:v>0.0796</c:v>
                </c:pt>
                <c:pt idx="18">
                  <c:v>0.0796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6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8A93A6"/>
                    </a:solidFill>
                    <a:latin typeface="+mn-lt"/>
                  </a:rPr>
                  <a:t>시선과 태양 사이 각도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0.001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D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6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264A"/>
                </a:solidFill>
                <a:latin typeface="+mn-lt"/>
              </a:rPr>
              <a:t>구름 깊이별 태양 기여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단일 산란</c:v>
                </c:pt>
              </c:strCache>
            </c:strRef>
          </c:tx>
          <c:spPr>
            <a:solidFill>
              <a:srgbClr val="8A93A6"/>
            </a:solidFill>
            <a:ln w="25400" cap="flat">
              <a:solidFill>
                <a:srgbClr val="8A93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A93A6"/>
              </a:solidFill>
              <a:ln w="9525" cap="flat">
                <a:solidFill>
                  <a:srgbClr val="8A93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0.6065</c:v>
                </c:pt>
                <c:pt idx="2">
                  <c:v>0.3679</c:v>
                </c:pt>
                <c:pt idx="3">
                  <c:v>0.2231</c:v>
                </c:pt>
                <c:pt idx="4">
                  <c:v>0.1353</c:v>
                </c:pt>
                <c:pt idx="5">
                  <c:v>0.0821</c:v>
                </c:pt>
                <c:pt idx="6">
                  <c:v>0.0498</c:v>
                </c:pt>
                <c:pt idx="7">
                  <c:v>0.0302</c:v>
                </c:pt>
                <c:pt idx="8">
                  <c:v>0.0183</c:v>
                </c:pt>
                <c:pt idx="9">
                  <c:v>0.0111</c:v>
                </c:pt>
                <c:pt idx="10">
                  <c:v>0.0067</c:v>
                </c:pt>
                <c:pt idx="11">
                  <c:v>0.0041</c:v>
                </c:pt>
                <c:pt idx="12">
                  <c:v>0.0025</c:v>
                </c:pt>
                <c:pt idx="13">
                  <c:v>0.0015</c:v>
                </c:pt>
                <c:pt idx="14">
                  <c:v>0.0009</c:v>
                </c:pt>
                <c:pt idx="15">
                  <c:v>0.0006</c:v>
                </c:pt>
                <c:pt idx="16">
                  <c:v>0.0003</c:v>
                </c:pt>
                <c:pt idx="17">
                  <c:v>0.0002</c:v>
                </c:pt>
                <c:pt idx="18">
                  <c:v>0.0001</c:v>
                </c:pt>
                <c:pt idx="19">
                  <c:v>0.0001</c:v>
                </c:pt>
                <c:pt idx="2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1차</c:v>
                </c:pt>
              </c:strCache>
            </c:strRef>
          </c:tx>
          <c:spPr>
            <a:solidFill>
              <a:srgbClr val="3FA7D6"/>
            </a:solidFill>
            <a:ln w="25400" cap="flat">
              <a:solidFill>
                <a:srgbClr val="3FA7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FA7D6"/>
              </a:solidFill>
              <a:ln w="9525" cap="flat">
                <a:solidFill>
                  <a:srgbClr val="3FA7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0.5</c:v>
                </c:pt>
                <c:pt idx="1">
                  <c:v>0.3894</c:v>
                </c:pt>
                <c:pt idx="2">
                  <c:v>0.3033</c:v>
                </c:pt>
                <c:pt idx="3">
                  <c:v>0.2362</c:v>
                </c:pt>
                <c:pt idx="4">
                  <c:v>0.1839</c:v>
                </c:pt>
                <c:pt idx="5">
                  <c:v>0.1433</c:v>
                </c:pt>
                <c:pt idx="6">
                  <c:v>0.1116</c:v>
                </c:pt>
                <c:pt idx="7">
                  <c:v>0.0869</c:v>
                </c:pt>
                <c:pt idx="8">
                  <c:v>0.0677</c:v>
                </c:pt>
                <c:pt idx="9">
                  <c:v>0.0527</c:v>
                </c:pt>
                <c:pt idx="10">
                  <c:v>0.041</c:v>
                </c:pt>
                <c:pt idx="11">
                  <c:v>0.032</c:v>
                </c:pt>
                <c:pt idx="12">
                  <c:v>0.0249</c:v>
                </c:pt>
                <c:pt idx="13">
                  <c:v>0.0194</c:v>
                </c:pt>
                <c:pt idx="14">
                  <c:v>0.0151</c:v>
                </c:pt>
                <c:pt idx="15">
                  <c:v>0.0118</c:v>
                </c:pt>
                <c:pt idx="16">
                  <c:v>0.0092</c:v>
                </c:pt>
                <c:pt idx="17">
                  <c:v>0.0071</c:v>
                </c:pt>
                <c:pt idx="18">
                  <c:v>0.0056</c:v>
                </c:pt>
                <c:pt idx="19">
                  <c:v>0.0043</c:v>
                </c:pt>
                <c:pt idx="20">
                  <c:v>0.0034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2차</c:v>
                </c:pt>
              </c:strCache>
            </c:strRef>
          </c:tx>
          <c:spPr>
            <a:solidFill>
              <a:srgbClr val="7A6FD0"/>
            </a:solidFill>
            <a:ln w="25400" cap="flat">
              <a:solidFill>
                <a:srgbClr val="7A6F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A6FD0"/>
              </a:solidFill>
              <a:ln w="9525" cap="flat">
                <a:solidFill>
                  <a:srgbClr val="7A6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0.25</c:v>
                </c:pt>
                <c:pt idx="1">
                  <c:v>0.2206</c:v>
                </c:pt>
                <c:pt idx="2">
                  <c:v>0.1947</c:v>
                </c:pt>
                <c:pt idx="3">
                  <c:v>0.1718</c:v>
                </c:pt>
                <c:pt idx="4">
                  <c:v>0.1516</c:v>
                </c:pt>
                <c:pt idx="5">
                  <c:v>0.1338</c:v>
                </c:pt>
                <c:pt idx="6">
                  <c:v>0.1181</c:v>
                </c:pt>
                <c:pt idx="7">
                  <c:v>0.1042</c:v>
                </c:pt>
                <c:pt idx="8">
                  <c:v>0.092</c:v>
                </c:pt>
                <c:pt idx="9">
                  <c:v>0.0812</c:v>
                </c:pt>
                <c:pt idx="10">
                  <c:v>0.0716</c:v>
                </c:pt>
                <c:pt idx="11">
                  <c:v>0.0632</c:v>
                </c:pt>
                <c:pt idx="12">
                  <c:v>0.0558</c:v>
                </c:pt>
                <c:pt idx="13">
                  <c:v>0.0492</c:v>
                </c:pt>
                <c:pt idx="14">
                  <c:v>0.0434</c:v>
                </c:pt>
                <c:pt idx="15">
                  <c:v>0.0383</c:v>
                </c:pt>
                <c:pt idx="16">
                  <c:v>0.0338</c:v>
                </c:pt>
                <c:pt idx="17">
                  <c:v>0.0299</c:v>
                </c:pt>
                <c:pt idx="18">
                  <c:v>0.0263</c:v>
                </c:pt>
                <c:pt idx="19">
                  <c:v>0.0233</c:v>
                </c:pt>
                <c:pt idx="20">
                  <c:v>0.0205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합</c:v>
                </c:pt>
              </c:strCache>
            </c:strRef>
          </c:tx>
          <c:spPr>
            <a:solidFill>
              <a:srgbClr val="F28C38"/>
            </a:solidFill>
            <a:ln w="25400" cap="flat">
              <a:solidFill>
                <a:srgbClr val="F28C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38"/>
              </a:solidFill>
              <a:ln w="9525" cap="flat">
                <a:solidFill>
                  <a:srgbClr val="F28C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</c:lvl>
              </c:multiLvlStrCache>
            </c:multiLvl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1.75</c:v>
                </c:pt>
                <c:pt idx="1">
                  <c:v>1.2166</c:v>
                </c:pt>
                <c:pt idx="2">
                  <c:v>0.8658</c:v>
                </c:pt>
                <c:pt idx="3">
                  <c:v>0.6311</c:v>
                </c:pt>
                <c:pt idx="4">
                  <c:v>0.4709</c:v>
                </c:pt>
                <c:pt idx="5">
                  <c:v>0.3592</c:v>
                </c:pt>
                <c:pt idx="6">
                  <c:v>0.2794</c:v>
                </c:pt>
                <c:pt idx="7">
                  <c:v>0.2213</c:v>
                </c:pt>
                <c:pt idx="8">
                  <c:v>0.178</c:v>
                </c:pt>
                <c:pt idx="9">
                  <c:v>0.145</c:v>
                </c:pt>
                <c:pt idx="10">
                  <c:v>0.1194</c:v>
                </c:pt>
                <c:pt idx="11">
                  <c:v>0.0993</c:v>
                </c:pt>
                <c:pt idx="12">
                  <c:v>0.0832</c:v>
                </c:pt>
                <c:pt idx="13">
                  <c:v>0.0701</c:v>
                </c:pt>
                <c:pt idx="14">
                  <c:v>0.0595</c:v>
                </c:pt>
                <c:pt idx="15">
                  <c:v>0.0507</c:v>
                </c:pt>
                <c:pt idx="16">
                  <c:v>0.0433</c:v>
                </c:pt>
                <c:pt idx="17">
                  <c:v>0.0372</c:v>
                </c:pt>
                <c:pt idx="18">
                  <c:v>0.032</c:v>
                </c:pt>
                <c:pt idx="19">
                  <c:v>0.0277</c:v>
                </c:pt>
                <c:pt idx="20">
                  <c:v>0.0239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6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8A93A6"/>
                    </a:solidFill>
                    <a:latin typeface="+mn-lt"/>
                  </a:rPr>
                  <a:t>태양 방향 광학 깊이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D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3264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3264A"/>
                </a:solidFill>
                <a:latin typeface="+mn-lt"/>
              </a:rPr>
              <a:t>광원 깊이별 투과율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투과율</c:v>
                </c:pt>
              </c:strCache>
            </c:strRef>
          </c:tx>
          <c:spPr>
            <a:solidFill>
              <a:srgbClr val="F28C38"/>
            </a:solidFill>
            <a:ln w="25400" cap="flat">
              <a:solidFill>
                <a:srgbClr val="F28C3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8C38"/>
              </a:solidFill>
              <a:ln w="9525" cap="flat">
                <a:solidFill>
                  <a:srgbClr val="F28C3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  <c:pt idx="9">
                    <c:v>225</c:v>
                  </c:pt>
                  <c:pt idx="10">
                    <c:v>250</c:v>
                  </c:pt>
                  <c:pt idx="11">
                    <c:v>275</c:v>
                  </c:pt>
                  <c:pt idx="12">
                    <c:v>300</c:v>
                  </c:pt>
                  <c:pt idx="13">
                    <c:v>325</c:v>
                  </c:pt>
                  <c:pt idx="14">
                    <c:v>350</c:v>
                  </c:pt>
                  <c:pt idx="15">
                    <c:v>375</c:v>
                  </c:pt>
                  <c:pt idx="16">
                    <c:v>400</c:v>
                  </c:pt>
                  <c:pt idx="17">
                    <c:v>425</c:v>
                  </c:pt>
                  <c:pt idx="18">
                    <c:v>450</c:v>
                  </c:pt>
                  <c:pt idx="19">
                    <c:v>475</c:v>
                  </c:pt>
                  <c:pt idx="20">
                    <c:v>500</c:v>
                  </c:pt>
                  <c:pt idx="21">
                    <c:v>525</c:v>
                  </c:pt>
                  <c:pt idx="22">
                    <c:v>550</c:v>
                  </c:pt>
                  <c:pt idx="23">
                    <c:v>575</c:v>
                  </c:pt>
                  <c:pt idx="24">
                    <c:v>600</c:v>
                  </c:pt>
                  <c:pt idx="25">
                    <c:v>625</c:v>
                  </c:pt>
                  <c:pt idx="26">
                    <c:v>650</c:v>
                  </c:pt>
                  <c:pt idx="27">
                    <c:v>675</c:v>
                  </c:pt>
                  <c:pt idx="28">
                    <c:v>700</c:v>
                  </c:pt>
                  <c:pt idx="29">
                    <c:v>725</c:v>
                  </c:pt>
                  <c:pt idx="30">
                    <c:v>750</c:v>
                  </c:pt>
                  <c:pt idx="31">
                    <c:v>775</c:v>
                  </c:pt>
                  <c:pt idx="32">
                    <c:v>800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0.7788</c:v>
                </c:pt>
                <c:pt idx="10">
                  <c:v>0.6065</c:v>
                </c:pt>
                <c:pt idx="11">
                  <c:v>0.4724</c:v>
                </c:pt>
                <c:pt idx="12">
                  <c:v>0.3679</c:v>
                </c:pt>
                <c:pt idx="13">
                  <c:v>0.2865</c:v>
                </c:pt>
                <c:pt idx="14">
                  <c:v>0.2231</c:v>
                </c:pt>
                <c:pt idx="15">
                  <c:v>0.1738</c:v>
                </c:pt>
                <c:pt idx="16">
                  <c:v>0.1353</c:v>
                </c:pt>
                <c:pt idx="17">
                  <c:v>0.1054</c:v>
                </c:pt>
                <c:pt idx="18">
                  <c:v>0.0821</c:v>
                </c:pt>
                <c:pt idx="19">
                  <c:v>0.0639</c:v>
                </c:pt>
                <c:pt idx="20">
                  <c:v>0.0498</c:v>
                </c:pt>
                <c:pt idx="21">
                  <c:v>0.0498</c:v>
                </c:pt>
                <c:pt idx="22">
                  <c:v>0.0498</c:v>
                </c:pt>
                <c:pt idx="23">
                  <c:v>0.0498</c:v>
                </c:pt>
                <c:pt idx="24">
                  <c:v>0.0498</c:v>
                </c:pt>
                <c:pt idx="25">
                  <c:v>0.0498</c:v>
                </c:pt>
                <c:pt idx="26">
                  <c:v>0.0498</c:v>
                </c:pt>
                <c:pt idx="27">
                  <c:v>0.0498</c:v>
                </c:pt>
                <c:pt idx="28">
                  <c:v>0.0498</c:v>
                </c:pt>
                <c:pt idx="29">
                  <c:v>0.0498</c:v>
                </c:pt>
                <c:pt idx="30">
                  <c:v>0.0498</c:v>
                </c:pt>
                <c:pt idx="31">
                  <c:v>0.0498</c:v>
                </c:pt>
                <c:pt idx="32">
                  <c:v>0.0498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A93A6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8A93A6"/>
                    </a:solidFill>
                    <a:latin typeface="+mn-lt"/>
                  </a:rPr>
                  <a:t>광원 깊이 (m)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범위: SkyView LUT(32bb37b) 이후 커밋. AP(59231de), 지형(1156f5e/c1a9b3d), 태양 그림자·IBL(a4f8737/5ad08c7), Nubis Pack(b105c7a/5bfef79), 기본 구름(9b9c83f), Octave MS(bb09540), 구름 그림자(7e87f67).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월드 단위가 cm라 20km면 좌표 2,000,000, float 간격 약 0.25cm. 시선 방향을 근평면 근처 두 점의 차이로 구하면 방향이 계단짐 → 역 뷰-투영에서 이동을 제거해 카메라 기준으로 계산.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슬라이스 분포는 참고 구현과 같음. 스텝 수는 (z+1)×2로 가까운 슬라이스는 적게. A는 RGB 평균 투과율로 저장하는 단색 근사 (블렌드가 채널별 알파를 못 씀, 논문도 같음). 첫 슬라이스 중심 이전은 saturate(slice×2)로 페이드.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CPU에서 Transmittance LUT와 같은 40스텝 적분을 프레임당 1회 계산 (지형 셰이더는 Sky LUT를 바인딩하지 않음). 행성 그림자: 태양 천정각 코사인이 −sqrt(1 − (Rg/r)²)보다 작으면 0. IBL은 태양 고도 smoothstep(−0.1~0.15), 밤 최소 0.02.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TGA는 RLE 32bpp, 좌하단 원점. 노이즈 R/G = 저/고주파 Curly-Alligator(wispy), B/A = 저/고주파 Alligator(billowy). 볼륨은 z-up이라 UVW를 xzy로 조회.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세부: 노이즈는 Profile로 저/고주파를 섞고(가장자리는 큰 덩어리, 안쪽은 잔결), Type으로 wispy/billowy를 섞음. 150m 이내는 초고주파 추가. 밀도 배율은 4제곱, 이후 선명화 지수. 카메라 10~120m는 옅게 (Frostnova 값). 노이즈 밉 = log2(1 + 거리 × 0.004).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 교차는 Slab 방식(축별 평면 교차 거리의 최대/최소). 스텝 = max(1m, sqrt(거리) × 0.08), 최대 256스텝. SDF가 스텝보다 크면 SDF만큼 건너뜀.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그림의 오프셋은 실제 IGN 식으로 계산한 값. 프레임마다 입력 좌표를 옮겨 시간 방향으로도 다른 값(64프레임 주기). 사용처: 구름 레이 시작점, 빛줄기 샘플 위치.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구름은 반투명이라 깊이가 하나가 아님 → 불투명도 기여로 가중 평균한 깊이에서 AP를 조회해 합성. 빛 마칭은 16m부터 2배씩 6스텝, 총 약 1km.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= b = c = 0.5, 3단. 광학 깊이 4에서 단일 산란 0.018, 합 0.15 → 약 8배 밝음.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평균 소멸계수 = 최대 광학 깊이 / (뒷면 − 앞면). 구름 안 밀도가 균일하다고 보면 뒷면에서 정확히 최대 광학 깊이에 도달 → 지면은 항상 정확, 구름 내부만 근사. 그래프 예시: 앞면 200m, 두께 300m, 광학 깊이 3. 기본값 0이면 그림자 없음 → 끄면 기존 화면과 같음.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fp16 정밀도: 광원 깊이 6km 부근 약 4m 단위 → 구름 두께 대비 충분, 줄무늬가 보이면 32비트로. 행렬 하나로 월드 m → (u, v, 광원 깊이).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3657600"/>
            <a:ext cx="9326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ebh/UnrealEngineSkyAtmospher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ebh.github.io/publications/egsr2020.pdf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ebh.github.io/publications/egsr2020.pdf" TargetMode="External"/><Relationship Id="rId3" Type="http://schemas.openxmlformats.org/officeDocument/2006/relationships/hyperlink" Target="https://github.com/sebh/UnrealEngineSkyAtmosphere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sebh.github.io/publications/egsr2020.pdf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3d3g8mu99pzk9.cloudfront.net/AndrewSchneider/Nubis%20Cubed.pdf" TargetMode="External"/><Relationship Id="rId2" Type="http://schemas.openxmlformats.org/officeDocument/2006/relationships/hyperlink" Target="http://bit.ly/NubisVoxelCloudPack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://bit.ly/NubisVoxelCloudPack" TargetMode="External"/><Relationship Id="rId2" Type="http://schemas.openxmlformats.org/officeDocument/2006/relationships/hyperlink" Target="https://d3d3g8mu99pzk9.cloudfront.net/AndrewSchneider/Nubis%20Cubed.pdf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3d3g8mu99pzk9.cloudfront.net/AndrewSchneider/Nubis%20Cubed.pdf" TargetMode="External"/><Relationship Id="rId4" Type="http://schemas.openxmlformats.org/officeDocument/2006/relationships/hyperlink" Target="https://github.com/YueZhang1027/CIS5650-Final-Project-Frostnova" TargetMode="External"/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3d3g8mu99pzk9.cloudfront.net/AndrewSchneider/Nubis%20Cubed.pdf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dvances.realtimerendering.com/s2014/sledgehammer/Next-Generation-Post-Processing-in-Call-of-Duty-Advanced-Warfare-v17.pptx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a.com/frostbite/news/physically-based-sky-atmosphere-and-cloud-rendering" TargetMode="External"/><Relationship Id="rId3" Type="http://schemas.openxmlformats.org/officeDocument/2006/relationships/hyperlink" Target="https://advances.realtimerendering.com/s2017/Nubis%20-%20Authoring%20Realtime%20Volumetric%20Cloudscapes%20with%20the%20Decima%20Engine%20-%20Final%20.pdf" TargetMode="External"/><Relationship Id="rId4" Type="http://schemas.openxmlformats.org/officeDocument/2006/relationships/hyperlink" Target="https://advances.realtimerendering.com/s2022/SIGGRAPH2022-Advances-NubisEvolved-NoVideos.pdf" TargetMode="External"/><Relationship Id="rId1" Type="http://schemas.openxmlformats.org/officeDocument/2006/relationships/image" Target="../media/image-14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.com/frostbite/news/physically-based-unified-volumetric-rendering-in-frostbite" TargetMode="External"/><Relationship Id="rId1" Type="http://schemas.openxmlformats.org/officeDocument/2006/relationships/chart" Target="/ppt/charts/chart2.xml"/><Relationship Id="rId2" Type="http://schemas.openxmlformats.org/officeDocument/2006/relationships/image" Target="../media/image-1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elfshadow.com/publications/s2016-shading-course/hillaire/s2016_pbs_frostbite_sky_clouds.pptx" TargetMode="External"/><Relationship Id="rId1" Type="http://schemas.openxmlformats.org/officeDocument/2006/relationships/chart" Target="/ppt/charts/chart3.xml"/><Relationship Id="rId2" Type="http://schemas.openxmlformats.org/officeDocument/2006/relationships/image" Target="../media/image-1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sebh.github.io/publications/egsr2020.pdf" TargetMode="External"/><Relationship Id="rId2" Type="http://schemas.openxmlformats.org/officeDocument/2006/relationships/hyperlink" Target="https://d3d3g8mu99pzk9.cloudfront.net/AndrewSchneider/Nubis%20Cubed.pdf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2504459.2504518" TargetMode="External"/><Relationship Id="rId4" Type="http://schemas.openxmlformats.org/officeDocument/2006/relationships/hyperlink" Target="https://blog.selfshadow.com/publications/s2016-shading-course/hillaire/s2016_pbs_frostbite_sky_clouds.pptx" TargetMode="External"/><Relationship Id="rId2" Type="http://schemas.openxmlformats.org/officeDocument/2006/relationships/chart" Target="/ppt/charts/chart4.xml"/><Relationship Id="rId1" Type="http://schemas.openxmlformats.org/officeDocument/2006/relationships/image" Target="../media/image-18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a.com/frostbite/news/physically-based-sky-atmosphere-and-cloud-rendering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selfshadow.com/publications/s2016-shading-course/hillaire/s2016_pbs_frostbite_sky_clouds.pptx" TargetMode="External"/><Relationship Id="rId1" Type="http://schemas.openxmlformats.org/officeDocument/2006/relationships/chart" Target="/ppt/charts/chart5.xml"/><Relationship Id="rId2" Type="http://schemas.openxmlformats.org/officeDocument/2006/relationships/image" Target="../media/image-21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blog.selfshadow.com/publications/s2016-shading-course/hillaire/s2016_pbs_frostbite_sky_clouds.pptx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sebh.github.io/publications/egsr2020.pdf" TargetMode="Externa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sebh.github.io/publications/egsr2020.pdf" TargetMode="External"/><Relationship Id="rId2" Type="http://schemas.openxmlformats.org/officeDocument/2006/relationships/hyperlink" Target="https://d3d3g8mu99pzk9.cloudfront.net/AndrewSchneider/Nubis%20Cubed.pdf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sebh.github.io/publications/egsr2020.pdf" TargetMode="External"/><Relationship Id="rId2" Type="http://schemas.openxmlformats.org/officeDocument/2006/relationships/hyperlink" Target="https://blog.selfshadow.com/publications/s2016-shading-course/hillaire/s2016_pbs_frostbite_sky_clouds.pptx" TargetMode="External"/><Relationship Id="rId3" Type="http://schemas.openxmlformats.org/officeDocument/2006/relationships/hyperlink" Target="https://www.ea.com/frostbite/news/physically-based-unified-volumetric-rendering-in-frostbite" TargetMode="External"/><Relationship Id="rId4" Type="http://schemas.openxmlformats.org/officeDocument/2006/relationships/hyperlink" Target="https://advances.realtimerendering.com/s2017/Nubis%20-%20Authoring%20Realtime%20Volumetric%20Cloudscapes%20with%20the%20Decima%20Engine%20-%20Final%20.pdf" TargetMode="External"/><Relationship Id="rId5" Type="http://schemas.openxmlformats.org/officeDocument/2006/relationships/hyperlink" Target="https://advances.realtimerendering.com/s2022/SIGGRAPH2022-Advances-NubisEvolved-NoVideos.pdf" TargetMode="External"/><Relationship Id="rId6" Type="http://schemas.openxmlformats.org/officeDocument/2006/relationships/hyperlink" Target="https://d3d3g8mu99pzk9.cloudfront.net/AndrewSchneider/Nubis%20Cubed.pdf" TargetMode="External"/><Relationship Id="rId7" Type="http://schemas.openxmlformats.org/officeDocument/2006/relationships/hyperlink" Target="http://bit.ly/NubisVoxelCloudPack" TargetMode="External"/><Relationship Id="rId8" Type="http://schemas.openxmlformats.org/officeDocument/2006/relationships/hyperlink" Target="https://doi.org/10.1145/2504459.2504518" TargetMode="External"/><Relationship Id="rId9" Type="http://schemas.openxmlformats.org/officeDocument/2006/relationships/hyperlink" Target="https://advances.realtimerendering.com/s2014/sledgehammer/Next-Generation-Post-Processing-in-Call-of-Duty-Advanced-Warfare-v17.pptx" TargetMode="External"/><Relationship Id="rId10" Type="http://schemas.openxmlformats.org/officeDocument/2006/relationships/hyperlink" Target="https://github.com/YueZhang1027/CIS5650-Final-Project-Frostnova" TargetMode="External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Aerial Perspective →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복셀 구름 → 구름 그림자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상호작용 볼류메트릭 구름 · 2주차 (2026-10-28 ~ 11-03)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DX12 MiniEngine · Hillaire 2020 대기 산란 + 복셀 구름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이번 주 요약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Dot"/>
          <p:cNvSpPr/>
          <p:nvPr/>
        </p:nvSpPr>
        <p:spPr>
          <a:xfrm>
            <a:off x="777240" y="15087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rd Title"/>
          <p:cNvSpPr txBox="1"/>
          <p:nvPr/>
        </p:nvSpPr>
        <p:spPr>
          <a:xfrm>
            <a:off x="1188720" y="1444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Aerial Perspective</a:t>
            </a:r>
            <a:endParaRPr lang="en-US" sz="1600" dirty="0"/>
          </a:p>
        </p:txBody>
      </p:sp>
      <p:sp>
        <p:nvSpPr>
          <p:cNvPr id="6" name="Card Body"/>
          <p:cNvSpPr txBox="1"/>
          <p:nvPr/>
        </p:nvSpPr>
        <p:spPr>
          <a:xfrm>
            <a:off x="777240" y="1965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불투명 물체와 구름에 대기 원근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32³ froxel, 최대 128km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367735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Dot"/>
          <p:cNvSpPr/>
          <p:nvPr/>
        </p:nvSpPr>
        <p:spPr>
          <a:xfrm>
            <a:off x="3596335" y="15087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ard Title"/>
          <p:cNvSpPr txBox="1"/>
          <p:nvPr/>
        </p:nvSpPr>
        <p:spPr>
          <a:xfrm>
            <a:off x="4007815" y="1444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대기 ↔ 지형 연결</a:t>
            </a:r>
            <a:endParaRPr lang="en-US" sz="1600" dirty="0"/>
          </a:p>
        </p:txBody>
      </p:sp>
      <p:sp>
        <p:nvSpPr>
          <p:cNvPr id="10" name="Card Body"/>
          <p:cNvSpPr txBox="1"/>
          <p:nvPr/>
        </p:nvSpPr>
        <p:spPr>
          <a:xfrm>
            <a:off x="3596335" y="1965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10km 지형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태양 색 = 대기 투과율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186830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 Dot"/>
          <p:cNvSpPr/>
          <p:nvPr/>
        </p:nvSpPr>
        <p:spPr>
          <a:xfrm>
            <a:off x="6415430" y="15087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 Title"/>
          <p:cNvSpPr txBox="1"/>
          <p:nvPr/>
        </p:nvSpPr>
        <p:spPr>
          <a:xfrm>
            <a:off x="6826910" y="1444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복셀 구름</a:t>
            </a:r>
            <a:endParaRPr lang="en-US" sz="1600" dirty="0"/>
          </a:p>
        </p:txBody>
      </p:sp>
      <p:sp>
        <p:nvSpPr>
          <p:cNvPr id="14" name="Card Body"/>
          <p:cNvSpPr txBox="1"/>
          <p:nvPr/>
        </p:nvSpPr>
        <p:spPr>
          <a:xfrm>
            <a:off x="6415430" y="1965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Voxel Cloud Pack, SDF 레이마칭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조명, 다중 산란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9005926" y="1280160"/>
            <a:ext cx="26060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 Dot"/>
          <p:cNvSpPr/>
          <p:nvPr/>
        </p:nvSpPr>
        <p:spPr>
          <a:xfrm>
            <a:off x="9234526" y="15087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Card Title"/>
          <p:cNvSpPr txBox="1"/>
          <p:nvPr/>
        </p:nvSpPr>
        <p:spPr>
          <a:xfrm>
            <a:off x="9646006" y="14447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구름 그림자</a:t>
            </a:r>
            <a:endParaRPr lang="en-US" sz="1600" dirty="0"/>
          </a:p>
        </p:txBody>
      </p:sp>
      <p:sp>
        <p:nvSpPr>
          <p:cNvPr id="18" name="Card Body"/>
          <p:cNvSpPr txBox="1"/>
          <p:nvPr/>
        </p:nvSpPr>
        <p:spPr>
          <a:xfrm>
            <a:off x="9234526" y="19659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Beer Shadow 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지형 그림자 + 대기 빛줄기</a:t>
            </a:r>
            <a:endParaRPr lang="en-US" sz="1300" dirty="0"/>
          </a:p>
        </p:txBody>
      </p:sp>
      <p:sp>
        <p:nvSpPr>
          <p:cNvPr id="19" name="TODO Image Placeholder"/>
          <p:cNvSpPr/>
          <p:nvPr/>
        </p:nvSpPr>
        <p:spPr>
          <a:xfrm>
            <a:off x="548640" y="3291840"/>
            <a:ext cx="11094415" cy="28346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0" name="TODO Image Label"/>
          <p:cNvSpPr txBox="1"/>
          <p:nvPr/>
        </p:nvSpPr>
        <p:spPr>
          <a:xfrm>
            <a:off x="731520" y="3291840"/>
            <a:ext cx="10728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전/후 비교: 하늘만 있는 장면 → 구름·그림자·AP가 들어간 장면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프레임 구성</a:t>
            </a:r>
            <a:endParaRPr lang="en-US" sz="3000" dirty="0"/>
          </a:p>
        </p:txBody>
      </p:sp>
      <p:sp>
        <p:nvSpPr>
          <p:cNvPr id="3" name="Stage Box"/>
          <p:cNvSpPr/>
          <p:nvPr/>
        </p:nvSpPr>
        <p:spPr>
          <a:xfrm>
            <a:off x="548640" y="146304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" name="Stage Title"/>
          <p:cNvSpPr txBox="1"/>
          <p:nvPr/>
        </p:nvSpPr>
        <p:spPr>
          <a:xfrm>
            <a:off x="685800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대기 LUT</a:t>
            </a:r>
            <a:endParaRPr lang="en-US" sz="1500" dirty="0"/>
          </a:p>
        </p:txBody>
      </p:sp>
      <p:sp>
        <p:nvSpPr>
          <p:cNvPr id="5" name="Stage Body"/>
          <p:cNvSpPr txBox="1"/>
          <p:nvPr/>
        </p:nvSpPr>
        <p:spPr>
          <a:xfrm>
            <a:off x="685800" y="21031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Transmittance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Multi Scattering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Sky 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Aerial Perspective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560320" y="2560320"/>
            <a:ext cx="214884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Stage Box"/>
          <p:cNvSpPr/>
          <p:nvPr/>
        </p:nvSpPr>
        <p:spPr>
          <a:xfrm>
            <a:off x="2820924" y="146304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8" name="Stage Title"/>
          <p:cNvSpPr txBox="1"/>
          <p:nvPr/>
        </p:nvSpPr>
        <p:spPr>
          <a:xfrm>
            <a:off x="2958084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구름 그림자 맵</a:t>
            </a:r>
            <a:endParaRPr lang="en-US" sz="1500" dirty="0"/>
          </a:p>
        </p:txBody>
      </p:sp>
      <p:sp>
        <p:nvSpPr>
          <p:cNvPr id="9" name="Stage Body"/>
          <p:cNvSpPr txBox="1"/>
          <p:nvPr/>
        </p:nvSpPr>
        <p:spPr>
          <a:xfrm>
            <a:off x="2958084" y="21031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Beer Shadow Map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1024²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4832604" y="2560320"/>
            <a:ext cx="214884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Stage Box"/>
          <p:cNvSpPr/>
          <p:nvPr/>
        </p:nvSpPr>
        <p:spPr>
          <a:xfrm>
            <a:off x="5093208" y="146304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2" name="Stage Title"/>
          <p:cNvSpPr txBox="1"/>
          <p:nvPr/>
        </p:nvSpPr>
        <p:spPr>
          <a:xfrm>
            <a:off x="5230368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깊이 / 불투명</a:t>
            </a:r>
            <a:endParaRPr lang="en-US" sz="1500" dirty="0"/>
          </a:p>
        </p:txBody>
      </p:sp>
      <p:sp>
        <p:nvSpPr>
          <p:cNvPr id="13" name="Stage Body"/>
          <p:cNvSpPr txBox="1"/>
          <p:nvPr/>
        </p:nvSpPr>
        <p:spPr>
          <a:xfrm>
            <a:off x="5230368" y="21031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Depth Pre-pass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Sun Shadow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Opaque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>
            <a:off x="7104888" y="2560320"/>
            <a:ext cx="214884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age Box"/>
          <p:cNvSpPr/>
          <p:nvPr/>
        </p:nvSpPr>
        <p:spPr>
          <a:xfrm>
            <a:off x="7365492" y="146304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Stage Title"/>
          <p:cNvSpPr txBox="1"/>
          <p:nvPr/>
        </p:nvSpPr>
        <p:spPr>
          <a:xfrm>
            <a:off x="7502652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하늘 합성</a:t>
            </a:r>
            <a:endParaRPr lang="en-US" sz="1500" dirty="0"/>
          </a:p>
        </p:txBody>
      </p:sp>
      <p:sp>
        <p:nvSpPr>
          <p:cNvPr id="17" name="Stage Body"/>
          <p:cNvSpPr txBox="1"/>
          <p:nvPr/>
        </p:nvSpPr>
        <p:spPr>
          <a:xfrm>
            <a:off x="7502652" y="21031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 적용 (지형)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Sky Composite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Cloud Raymarching</a:t>
            </a:r>
            <a:endParaRPr lang="en-US" sz="1300" dirty="0"/>
          </a:p>
        </p:txBody>
      </p:sp>
      <p:sp>
        <p:nvSpPr>
          <p:cNvPr id="18" name="Arrow"/>
          <p:cNvSpPr/>
          <p:nvPr/>
        </p:nvSpPr>
        <p:spPr>
          <a:xfrm>
            <a:off x="9377172" y="2560320"/>
            <a:ext cx="214884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tage Box"/>
          <p:cNvSpPr/>
          <p:nvPr/>
        </p:nvSpPr>
        <p:spPr>
          <a:xfrm>
            <a:off x="9637776" y="146304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20" name="Stage Title"/>
          <p:cNvSpPr txBox="1"/>
          <p:nvPr/>
        </p:nvSpPr>
        <p:spPr>
          <a:xfrm>
            <a:off x="9774936" y="16002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이후</a:t>
            </a:r>
            <a:endParaRPr lang="en-US" sz="1500" dirty="0"/>
          </a:p>
        </p:txBody>
      </p:sp>
      <p:sp>
        <p:nvSpPr>
          <p:cNvPr id="21" name="Stage Body"/>
          <p:cNvSpPr txBox="1"/>
          <p:nvPr/>
        </p:nvSpPr>
        <p:spPr>
          <a:xfrm>
            <a:off x="9774936" y="210312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Transparent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Post</a:t>
            </a:r>
            <a:endParaRPr lang="en-US" sz="1300" dirty="0"/>
          </a:p>
        </p:txBody>
      </p:sp>
      <p:sp>
        <p:nvSpPr>
          <p:cNvPr id="22" name="Body Text"/>
          <p:cNvSpPr txBox="1"/>
          <p:nvPr/>
        </p:nvSpPr>
        <p:spPr>
          <a:xfrm>
            <a:off x="548640" y="411480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스카이박스 자리를 대체 (Opaque 다음, Transparent 앞)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 적용과 Sky Composite 둘 다 구름 그림자 빛줄기를 반영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대기·구름은 카메라 기준 좌표로 계산 → 큰 월드 좌표의 정밀도 문제(태양 주변 줄무늬) 해결</a:t>
            </a:r>
            <a:endParaRPr lang="en-US" sz="15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참고 구현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731520" y="27889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73152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Aerial Perspective와 지형 연결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57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Hillaire 2020의 froxel AP, 태양 투과율로 지형 조명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Aerial Perspective: 개념</a:t>
            </a:r>
            <a:endParaRPr lang="en-US" sz="3000" dirty="0"/>
          </a:p>
        </p:txBody>
      </p:sp>
      <p:sp>
        <p:nvSpPr>
          <p:cNvPr id="3" name="Ground"/>
          <p:cNvSpPr/>
          <p:nvPr/>
        </p:nvSpPr>
        <p:spPr>
          <a:xfrm>
            <a:off x="548640" y="4480560"/>
            <a:ext cx="58521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" name="Mountain"/>
          <p:cNvSpPr/>
          <p:nvPr/>
        </p:nvSpPr>
        <p:spPr>
          <a:xfrm>
            <a:off x="4754880" y="3017520"/>
            <a:ext cx="1645920" cy="1463040"/>
          </a:xfrm>
          <a:prstGeom prst="triangle">
            <a:avLst/>
          </a:prstGeom>
          <a:solidFill>
            <a:schemeClr val="accent6">
              <a:alpha val="70000"/>
            </a:schemeClr>
          </a:solidFill>
          <a:ln/>
        </p:spPr>
      </p:sp>
      <p:sp>
        <p:nvSpPr>
          <p:cNvPr id="5" name="Diagram Label"/>
          <p:cNvSpPr txBox="1"/>
          <p:nvPr/>
        </p:nvSpPr>
        <p:spPr>
          <a:xfrm>
            <a:off x="512064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먼 산</a:t>
            </a:r>
            <a:endParaRPr lang="en-US" sz="1100" dirty="0"/>
          </a:p>
        </p:txBody>
      </p:sp>
      <p:sp>
        <p:nvSpPr>
          <p:cNvPr id="6" name="Sun"/>
          <p:cNvSpPr/>
          <p:nvPr/>
        </p:nvSpPr>
        <p:spPr>
          <a:xfrm>
            <a:off x="5559552" y="130759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iagram Label"/>
          <p:cNvSpPr txBox="1"/>
          <p:nvPr/>
        </p:nvSpPr>
        <p:spPr>
          <a:xfrm>
            <a:off x="5394960" y="1911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8" name="Camera Body"/>
          <p:cNvSpPr/>
          <p:nvPr/>
        </p:nvSpPr>
        <p:spPr>
          <a:xfrm>
            <a:off x="685800" y="3685032"/>
            <a:ext cx="365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Camera Lens"/>
          <p:cNvSpPr/>
          <p:nvPr/>
        </p:nvSpPr>
        <p:spPr>
          <a:xfrm rot="5400000">
            <a:off x="1005840" y="3712464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Diagram Label"/>
          <p:cNvSpPr txBox="1"/>
          <p:nvPr/>
        </p:nvSpPr>
        <p:spPr>
          <a:xfrm>
            <a:off x="45720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카메라</a:t>
            </a:r>
            <a:endParaRPr lang="en-US" sz="1100" dirty="0"/>
          </a:p>
        </p:txBody>
      </p:sp>
      <p:sp>
        <p:nvSpPr>
          <p:cNvPr id="11" name="View Ray"/>
          <p:cNvSpPr/>
          <p:nvPr/>
        </p:nvSpPr>
        <p:spPr>
          <a:xfrm>
            <a:off x="1280160" y="3840480"/>
            <a:ext cx="3931920" cy="914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sp>
        <p:nvSpPr>
          <p:cNvPr id="12" name="Sun Ray"/>
          <p:cNvSpPr/>
          <p:nvPr/>
        </p:nvSpPr>
        <p:spPr>
          <a:xfrm flipH="1">
            <a:off x="2103120" y="1828800"/>
            <a:ext cx="3566160" cy="19659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3" name="Diagram Dot"/>
          <p:cNvSpPr/>
          <p:nvPr/>
        </p:nvSpPr>
        <p:spPr>
          <a:xfrm>
            <a:off x="2048256" y="37856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Sun Ray"/>
          <p:cNvSpPr/>
          <p:nvPr/>
        </p:nvSpPr>
        <p:spPr>
          <a:xfrm flipH="1">
            <a:off x="3017520" y="1828800"/>
            <a:ext cx="2651760" cy="19659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5" name="Diagram Dot"/>
          <p:cNvSpPr/>
          <p:nvPr/>
        </p:nvSpPr>
        <p:spPr>
          <a:xfrm>
            <a:off x="2962656" y="37856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un Ray"/>
          <p:cNvSpPr/>
          <p:nvPr/>
        </p:nvSpPr>
        <p:spPr>
          <a:xfrm flipH="1">
            <a:off x="3931920" y="1828800"/>
            <a:ext cx="1737360" cy="196596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17" name="Diagram Dot"/>
          <p:cNvSpPr/>
          <p:nvPr/>
        </p:nvSpPr>
        <p:spPr>
          <a:xfrm>
            <a:off x="3877056" y="378561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iagram Label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In-scattering: 태양빛이 시선으로 더해짐</a:t>
            </a:r>
            <a:endParaRPr lang="en-US" sz="1200" dirty="0"/>
          </a:p>
        </p:txBody>
      </p:sp>
      <p:sp>
        <p:nvSpPr>
          <p:cNvPr id="19" name="Extinction"/>
          <p:cNvSpPr/>
          <p:nvPr/>
        </p:nvSpPr>
        <p:spPr>
          <a:xfrm flipH="1">
            <a:off x="1463040" y="4114800"/>
            <a:ext cx="34747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Diagram Label"/>
          <p:cNvSpPr txBox="1"/>
          <p:nvPr/>
        </p:nvSpPr>
        <p:spPr>
          <a:xfrm>
            <a:off x="14630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Extinction: 산에서 오는 빛이 감쇠</a:t>
            </a:r>
            <a:endParaRPr lang="en-US" sz="1200" dirty="0"/>
          </a:p>
        </p:txBody>
      </p:sp>
      <p:sp>
        <p:nvSpPr>
          <p:cNvPr id="21" name="Formula Box"/>
          <p:cNvSpPr/>
          <p:nvPr/>
        </p:nvSpPr>
        <p:spPr>
          <a:xfrm>
            <a:off x="548640" y="4983480"/>
            <a:ext cx="58521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rmula apply" descr="L = L_{obj}\,T + L_{in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105" y="5266190"/>
            <a:ext cx="2247229" cy="303261"/>
          </a:xfrm>
          <a:prstGeom prst="rect">
            <a:avLst/>
          </a:prstGeom>
        </p:spPr>
      </p:pic>
      <p:sp>
        <p:nvSpPr>
          <p:cNvPr id="23" name="TODO Image Placeholder"/>
          <p:cNvSpPr/>
          <p:nvPr/>
        </p:nvSpPr>
        <p:spPr>
          <a:xfrm>
            <a:off x="6766560" y="1280160"/>
            <a:ext cx="4873752" cy="32918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4" name="TODO Image Label"/>
          <p:cNvSpPr txBox="1"/>
          <p:nvPr/>
        </p:nvSpPr>
        <p:spPr>
          <a:xfrm>
            <a:off x="6949440" y="1280160"/>
            <a:ext cx="45079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AP 꺼짐 / 켜짐 비교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(원경 산이 하늘색으로 녹아드는 장면)</a:t>
            </a:r>
            <a:endParaRPr lang="en-US" sz="1300" dirty="0"/>
          </a:p>
        </p:txBody>
      </p:sp>
      <p:sp>
        <p:nvSpPr>
          <p:cNvPr id="25" name="Body Text"/>
          <p:cNvSpPr txBox="1"/>
          <p:nvPr/>
        </p:nvSpPr>
        <p:spPr>
          <a:xfrm>
            <a:off x="6766560" y="4754880"/>
            <a:ext cx="4873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멀수록 하늘색으로 뜨고 대비가 줄어듦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픽셀마다 계산하면 비쌈 → 3D 텍스처에 미리 계산</a:t>
            </a:r>
            <a:endParaRPr lang="en-US" sz="14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2020, 5.4절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Aerial Perspective: froxel 볼륨</a:t>
            </a:r>
            <a:endParaRPr lang="en-US" sz="3000" dirty="0"/>
          </a:p>
        </p:txBody>
      </p:sp>
      <p:sp>
        <p:nvSpPr>
          <p:cNvPr id="3" name="Camera Body"/>
          <p:cNvSpPr/>
          <p:nvPr/>
        </p:nvSpPr>
        <p:spPr>
          <a:xfrm>
            <a:off x="502920" y="3136392"/>
            <a:ext cx="365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amera Lens"/>
          <p:cNvSpPr/>
          <p:nvPr/>
        </p:nvSpPr>
        <p:spPr>
          <a:xfrm rot="5400000">
            <a:off x="822960" y="3163824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iagram Label"/>
          <p:cNvSpPr txBox="1"/>
          <p:nvPr/>
        </p:nvSpPr>
        <p:spPr>
          <a:xfrm>
            <a:off x="27432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카메라</a:t>
            </a:r>
            <a:endParaRPr lang="en-US" sz="1100" dirty="0"/>
          </a:p>
        </p:txBody>
      </p:sp>
      <p:sp>
        <p:nvSpPr>
          <p:cNvPr id="6" name="Frustum Edge"/>
          <p:cNvSpPr/>
          <p:nvPr/>
        </p:nvSpPr>
        <p:spPr>
          <a:xfrm flipV="1">
            <a:off x="914400" y="1645920"/>
            <a:ext cx="5303520" cy="1645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7" name="Frustum Edge"/>
          <p:cNvSpPr/>
          <p:nvPr/>
        </p:nvSpPr>
        <p:spPr>
          <a:xfrm>
            <a:off x="914400" y="3291840"/>
            <a:ext cx="5303520" cy="16459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</a:ln>
        </p:spPr>
      </p:sp>
      <p:sp>
        <p:nvSpPr>
          <p:cNvPr id="8" name="Slice"/>
          <p:cNvSpPr/>
          <p:nvPr/>
        </p:nvSpPr>
        <p:spPr>
          <a:xfrm>
            <a:off x="997268" y="3266123"/>
            <a:ext cx="914" cy="51435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9" name="Slice"/>
          <p:cNvSpPr/>
          <p:nvPr/>
        </p:nvSpPr>
        <p:spPr>
          <a:xfrm>
            <a:off x="1245870" y="3188970"/>
            <a:ext cx="914" cy="20574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0" name="Slice"/>
          <p:cNvSpPr/>
          <p:nvPr/>
        </p:nvSpPr>
        <p:spPr>
          <a:xfrm>
            <a:off x="1660207" y="3060383"/>
            <a:ext cx="914" cy="462915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1" name="Slice"/>
          <p:cNvSpPr/>
          <p:nvPr/>
        </p:nvSpPr>
        <p:spPr>
          <a:xfrm>
            <a:off x="2240280" y="2880360"/>
            <a:ext cx="914" cy="82296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2" name="Slice"/>
          <p:cNvSpPr/>
          <p:nvPr/>
        </p:nvSpPr>
        <p:spPr>
          <a:xfrm>
            <a:off x="2986088" y="2648903"/>
            <a:ext cx="914" cy="1285875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3" name="Slice"/>
          <p:cNvSpPr/>
          <p:nvPr/>
        </p:nvSpPr>
        <p:spPr>
          <a:xfrm>
            <a:off x="3897630" y="2366010"/>
            <a:ext cx="914" cy="185166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4" name="Slice"/>
          <p:cNvSpPr/>
          <p:nvPr/>
        </p:nvSpPr>
        <p:spPr>
          <a:xfrm>
            <a:off x="4974908" y="2031682"/>
            <a:ext cx="914" cy="2520315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</a:ln>
        </p:spPr>
      </p:sp>
      <p:sp>
        <p:nvSpPr>
          <p:cNvPr id="15" name="Slice"/>
          <p:cNvSpPr/>
          <p:nvPr/>
        </p:nvSpPr>
        <p:spPr>
          <a:xfrm>
            <a:off x="6217920" y="1645920"/>
            <a:ext cx="914" cy="32918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16" name="Diagram Label"/>
          <p:cNvSpPr txBox="1"/>
          <p:nvPr/>
        </p:nvSpPr>
        <p:spPr>
          <a:xfrm>
            <a:off x="118872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가까울수록 촘촘 (제곱 분포)</a:t>
            </a:r>
            <a:endParaRPr lang="en-US" sz="1200" dirty="0"/>
          </a:p>
        </p:txBody>
      </p:sp>
      <p:sp>
        <p:nvSpPr>
          <p:cNvPr id="17" name="Diagram Label"/>
          <p:cNvSpPr txBox="1"/>
          <p:nvPr/>
        </p:nvSpPr>
        <p:spPr>
          <a:xfrm>
            <a:off x="566928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128km</a:t>
            </a:r>
            <a:endParaRPr lang="en-US" sz="1200" dirty="0"/>
          </a:p>
        </p:txBody>
      </p:sp>
      <p:sp>
        <p:nvSpPr>
          <p:cNvPr id="18" name="Formula Box"/>
          <p:cNvSpPr/>
          <p:nvPr/>
        </p:nvSpPr>
        <p:spPr>
          <a:xfrm>
            <a:off x="548640" y="5394960"/>
            <a:ext cx="5852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Formula depth" descr="d = \left(\tfrac{s}{32}\right)^{2} \times 128\ \mathrm{km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917" y="5565084"/>
            <a:ext cx="2695605" cy="436992"/>
          </a:xfrm>
          <a:prstGeom prst="rect">
            <a:avLst/>
          </a:prstGeom>
        </p:spPr>
      </p:pic>
      <p:sp>
        <p:nvSpPr>
          <p:cNvPr id="20" name="Diagram Label"/>
          <p:cNvSpPr txBox="1"/>
          <p:nvPr/>
        </p:nvSpPr>
        <p:spPr>
          <a:xfrm>
            <a:off x="676656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32³</a:t>
            </a:r>
            <a:endParaRPr lang="en-US" sz="3200" dirty="0"/>
          </a:p>
        </p:txBody>
      </p:sp>
      <p:sp>
        <p:nvSpPr>
          <p:cNvPr id="21" name="Diagram Label"/>
          <p:cNvSpPr txBox="1"/>
          <p:nvPr/>
        </p:nvSpPr>
        <p:spPr>
          <a:xfrm>
            <a:off x="8869680" y="128016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볼륨 해상도</a:t>
            </a:r>
            <a:endParaRPr lang="en-US" sz="1400" dirty="0"/>
          </a:p>
        </p:txBody>
      </p:sp>
      <p:sp>
        <p:nvSpPr>
          <p:cNvPr id="22" name="Diagram Label"/>
          <p:cNvSpPr txBox="1"/>
          <p:nvPr/>
        </p:nvSpPr>
        <p:spPr>
          <a:xfrm>
            <a:off x="6766560" y="23317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128km</a:t>
            </a:r>
            <a:endParaRPr lang="en-US" sz="3200" dirty="0"/>
          </a:p>
        </p:txBody>
      </p:sp>
      <p:sp>
        <p:nvSpPr>
          <p:cNvPr id="23" name="Diagram Label"/>
          <p:cNvSpPr txBox="1"/>
          <p:nvPr/>
        </p:nvSpPr>
        <p:spPr>
          <a:xfrm>
            <a:off x="8869680" y="233172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최대 거리 (슬라이스 32 × 4km)</a:t>
            </a:r>
            <a:endParaRPr lang="en-US" sz="1400" dirty="0"/>
          </a:p>
        </p:txBody>
      </p:sp>
      <p:sp>
        <p:nvSpPr>
          <p:cNvPr id="24" name="Diagram Label"/>
          <p:cNvSpPr txBox="1"/>
          <p:nvPr/>
        </p:nvSpPr>
        <p:spPr>
          <a:xfrm>
            <a:off x="6766560" y="3383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RGB / A</a:t>
            </a:r>
            <a:endParaRPr lang="en-US" sz="3200" dirty="0"/>
          </a:p>
        </p:txBody>
      </p:sp>
      <p:sp>
        <p:nvSpPr>
          <p:cNvPr id="25" name="Diagram Label"/>
          <p:cNvSpPr txBox="1"/>
          <p:nvPr/>
        </p:nvSpPr>
        <p:spPr>
          <a:xfrm>
            <a:off x="8869680" y="3383280"/>
            <a:ext cx="2770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산란광 / 불투명도</a:t>
            </a:r>
            <a:endParaRPr lang="en-US" sz="1400" dirty="0"/>
          </a:p>
        </p:txBody>
      </p:sp>
      <p:sp>
        <p:nvSpPr>
          <p:cNvPr id="26" name="Body Text"/>
          <p:cNvSpPr txBox="1"/>
          <p:nvPr/>
        </p:nvSpPr>
        <p:spPr>
          <a:xfrm>
            <a:off x="6766560" y="4526280"/>
            <a:ext cx="4873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Sky View와 같은 적분을 슬라이스 거리까지만 계산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적용: 깊이로 거리 복원 → 볼륨 조회 → 블렌드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카메라 바로 앞은 0으로 서서히 줄임</a:t>
            </a:r>
            <a:endParaRPr lang="en-US" sz="1400" dirty="0"/>
          </a:p>
        </p:txBody>
      </p:sp>
      <p:sp>
        <p:nvSpPr>
          <p:cNvPr id="2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구현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대기와 지형 연결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지형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glTF Death Valley (약 10km), 원거리 클립 50km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태양 그림자 영역을 지형 크기에 맞춤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태양 색 = 대기 투과율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흰색 상수 대신 대기를 통과한 태양 색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노을 때 붉어지고, 지평선 아래면 0 (행성 그림자)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IBL 강도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정적 큐브맵이라 밤에도 밝음 → 태양 고도에 따라 줄임</a:t>
            </a:r>
            <a:endParaRPr lang="en-US" sz="1500" dirty="0"/>
          </a:p>
        </p:txBody>
      </p:sp>
      <p:sp>
        <p:nvSpPr>
          <p:cNvPr id="4" name="TODO Image Placeholder"/>
          <p:cNvSpPr/>
          <p:nvPr/>
        </p:nvSpPr>
        <p:spPr>
          <a:xfrm>
            <a:off x="6400800" y="1280160"/>
            <a:ext cx="5239512" cy="39319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TODO Image Label"/>
          <p:cNvSpPr txBox="1"/>
          <p:nvPr/>
        </p:nvSpPr>
        <p:spPr>
          <a:xfrm>
            <a:off x="6583680" y="1280160"/>
            <a:ext cx="4873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하루 주기 4컷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정오 / 오후 / 노을 / 밤</a:t>
            </a:r>
            <a:endParaRPr lang="en-US" sz="1300" dirty="0"/>
          </a:p>
        </p:txBody>
      </p:sp>
      <p:sp>
        <p:nvSpPr>
          <p:cNvPr id="6" name="Diagram Label"/>
          <p:cNvSpPr txBox="1"/>
          <p:nvPr/>
        </p:nvSpPr>
        <p:spPr>
          <a:xfrm>
            <a:off x="6400800" y="5394960"/>
            <a:ext cx="5239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한계: 지면 기준 한 번만 계산 → 산 정상만 붉은 Alpenglow는 아직 없음</a:t>
            </a:r>
            <a:endParaRPr lang="en-US" sz="1300" dirty="0"/>
          </a:p>
        </p:txBody>
      </p:sp>
      <p:sp>
        <p:nvSpPr>
          <p:cNvPr id="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2020, 4절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731520" y="27889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73152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복셀 구름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57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데이터 · 밀도 · 레이마칭 · IGN · 조명 · 다중 산란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구름 구성</a:t>
            </a:r>
            <a:endParaRPr lang="en-US" sz="3000" dirty="0"/>
          </a:p>
        </p:txBody>
      </p:sp>
      <p:sp>
        <p:nvSpPr>
          <p:cNvPr id="3" name="Block"/>
          <p:cNvSpPr/>
          <p:nvPr/>
        </p:nvSpPr>
        <p:spPr>
          <a:xfrm>
            <a:off x="548640" y="1280160"/>
            <a:ext cx="347472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Diagram Label"/>
          <p:cNvSpPr txBox="1"/>
          <p:nvPr/>
        </p:nvSpPr>
        <p:spPr>
          <a:xfrm>
            <a:off x="77724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모델링 볼륨</a:t>
            </a:r>
            <a:endParaRPr lang="en-US" sz="1600" dirty="0"/>
          </a:p>
        </p:txBody>
      </p:sp>
      <p:sp>
        <p:nvSpPr>
          <p:cNvPr id="5" name="Diagram Label"/>
          <p:cNvSpPr txBox="1"/>
          <p:nvPr/>
        </p:nvSpPr>
        <p:spPr>
          <a:xfrm>
            <a:off x="777240" y="18288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512 × 512 × 64, 복셀 8m</a:t>
            </a:r>
            <a:endParaRPr lang="en-US" sz="1300" dirty="0"/>
          </a:p>
        </p:txBody>
      </p:sp>
      <p:sp>
        <p:nvSpPr>
          <p:cNvPr id="6" name="Diagram Label"/>
          <p:cNvSpPr txBox="1"/>
          <p:nvPr/>
        </p:nvSpPr>
        <p:spPr>
          <a:xfrm>
            <a:off x="777240" y="21945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R</a:t>
            </a:r>
            <a:endParaRPr lang="en-US" sz="1600" dirty="0"/>
          </a:p>
        </p:txBody>
      </p:sp>
      <p:sp>
        <p:nvSpPr>
          <p:cNvPr id="7" name="Diagram Label"/>
          <p:cNvSpPr txBox="1"/>
          <p:nvPr/>
        </p:nvSpPr>
        <p:spPr>
          <a:xfrm>
            <a:off x="11887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Profile</a:t>
            </a:r>
            <a:endParaRPr lang="en-US" sz="1300" dirty="0"/>
          </a:p>
        </p:txBody>
      </p:sp>
      <p:sp>
        <p:nvSpPr>
          <p:cNvPr id="8" name="Diagram Label"/>
          <p:cNvSpPr txBox="1"/>
          <p:nvPr/>
        </p:nvSpPr>
        <p:spPr>
          <a:xfrm>
            <a:off x="25603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얼마나 안쪽인가</a:t>
            </a:r>
            <a:endParaRPr lang="en-US" sz="1200" dirty="0"/>
          </a:p>
        </p:txBody>
      </p:sp>
      <p:sp>
        <p:nvSpPr>
          <p:cNvPr id="9" name="Diagram Label"/>
          <p:cNvSpPr txBox="1"/>
          <p:nvPr/>
        </p:nvSpPr>
        <p:spPr>
          <a:xfrm>
            <a:off x="777240" y="26974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G</a:t>
            </a:r>
            <a:endParaRPr lang="en-US" sz="1600" dirty="0"/>
          </a:p>
        </p:txBody>
      </p:sp>
      <p:sp>
        <p:nvSpPr>
          <p:cNvPr id="10" name="Diagram Label"/>
          <p:cNvSpPr txBox="1"/>
          <p:nvPr/>
        </p:nvSpPr>
        <p:spPr>
          <a:xfrm>
            <a:off x="118872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Detail Type</a:t>
            </a:r>
            <a:endParaRPr lang="en-US" sz="1300" dirty="0"/>
          </a:p>
        </p:txBody>
      </p:sp>
      <p:sp>
        <p:nvSpPr>
          <p:cNvPr id="11" name="Diagram Label"/>
          <p:cNvSpPr txBox="1"/>
          <p:nvPr/>
        </p:nvSpPr>
        <p:spPr>
          <a:xfrm>
            <a:off x="256032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wispy ↔ billowy</a:t>
            </a:r>
            <a:endParaRPr lang="en-US" sz="1200" dirty="0"/>
          </a:p>
        </p:txBody>
      </p:sp>
      <p:sp>
        <p:nvSpPr>
          <p:cNvPr id="12" name="Diagram Label"/>
          <p:cNvSpPr txBox="1"/>
          <p:nvPr/>
        </p:nvSpPr>
        <p:spPr>
          <a:xfrm>
            <a:off x="777240" y="3200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Diagram Label"/>
          <p:cNvSpPr txBox="1"/>
          <p:nvPr/>
        </p:nvSpPr>
        <p:spPr>
          <a:xfrm>
            <a:off x="118872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Density Scale</a:t>
            </a:r>
            <a:endParaRPr lang="en-US" sz="1300" dirty="0"/>
          </a:p>
        </p:txBody>
      </p:sp>
      <p:sp>
        <p:nvSpPr>
          <p:cNvPr id="14" name="Diagram Label"/>
          <p:cNvSpPr txBox="1"/>
          <p:nvPr/>
        </p:nvSpPr>
        <p:spPr>
          <a:xfrm>
            <a:off x="256032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밀도 배율</a:t>
            </a:r>
            <a:endParaRPr lang="en-US" sz="1200" dirty="0"/>
          </a:p>
        </p:txBody>
      </p:sp>
      <p:sp>
        <p:nvSpPr>
          <p:cNvPr id="15" name="Block"/>
          <p:cNvSpPr/>
          <p:nvPr/>
        </p:nvSpPr>
        <p:spPr>
          <a:xfrm>
            <a:off x="548640" y="3977640"/>
            <a:ext cx="347472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6" name="Diagram Label"/>
          <p:cNvSpPr txBox="1"/>
          <p:nvPr/>
        </p:nvSpPr>
        <p:spPr>
          <a:xfrm>
            <a:off x="77724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노이즈 128³</a:t>
            </a:r>
            <a:endParaRPr lang="en-US" sz="1600" dirty="0"/>
          </a:p>
        </p:txBody>
      </p:sp>
      <p:sp>
        <p:nvSpPr>
          <p:cNvPr id="17" name="Diagram Label"/>
          <p:cNvSpPr txBox="1"/>
          <p:nvPr/>
        </p:nvSpPr>
        <p:spPr>
          <a:xfrm>
            <a:off x="7772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wispy 2채널 + billowy 2채널</a:t>
            </a:r>
            <a:endParaRPr lang="en-US" sz="1300" dirty="0"/>
          </a:p>
        </p:txBody>
      </p:sp>
      <p:sp>
        <p:nvSpPr>
          <p:cNvPr id="18" name="Block"/>
          <p:cNvSpPr/>
          <p:nvPr/>
        </p:nvSpPr>
        <p:spPr>
          <a:xfrm>
            <a:off x="548640" y="5257800"/>
            <a:ext cx="34747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19" name="Diagram Label"/>
          <p:cNvSpPr txBox="1"/>
          <p:nvPr/>
        </p:nvSpPr>
        <p:spPr>
          <a:xfrm>
            <a:off x="777240" y="5394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필드 볼륨: SDF</a:t>
            </a:r>
            <a:endParaRPr lang="en-US" sz="1600" dirty="0"/>
          </a:p>
        </p:txBody>
      </p:sp>
      <p:sp>
        <p:nvSpPr>
          <p:cNvPr id="20" name="Block"/>
          <p:cNvSpPr/>
          <p:nvPr/>
        </p:nvSpPr>
        <p:spPr>
          <a:xfrm>
            <a:off x="4937760" y="2514600"/>
            <a:ext cx="2743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Diagram Label"/>
          <p:cNvSpPr txBox="1"/>
          <p:nvPr/>
        </p:nvSpPr>
        <p:spPr>
          <a:xfrm>
            <a:off x="5166360" y="2651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침식 (Erosion)</a:t>
            </a:r>
            <a:endParaRPr lang="en-US" sz="1600" dirty="0"/>
          </a:p>
        </p:txBody>
      </p:sp>
      <p:sp>
        <p:nvSpPr>
          <p:cNvPr id="22" name="Diagram Label"/>
          <p:cNvSpPr txBox="1"/>
          <p:nvPr/>
        </p:nvSpPr>
        <p:spPr>
          <a:xfrm>
            <a:off x="5166360" y="306324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Profile이 높은 내부는 유지,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가장자리만 노이즈로 깎음</a:t>
            </a:r>
            <a:endParaRPr lang="en-US" sz="1300" dirty="0"/>
          </a:p>
        </p:txBody>
      </p:sp>
      <p:sp>
        <p:nvSpPr>
          <p:cNvPr id="23" name="Block"/>
          <p:cNvSpPr/>
          <p:nvPr/>
        </p:nvSpPr>
        <p:spPr>
          <a:xfrm>
            <a:off x="8412480" y="2514600"/>
            <a:ext cx="322783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4" name="Diagram Label"/>
          <p:cNvSpPr txBox="1"/>
          <p:nvPr/>
        </p:nvSpPr>
        <p:spPr>
          <a:xfrm>
            <a:off x="8641080" y="265176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최종 밀도</a:t>
            </a:r>
            <a:endParaRPr lang="en-US" sz="1600" dirty="0"/>
          </a:p>
        </p:txBody>
      </p:sp>
      <p:sp>
        <p:nvSpPr>
          <p:cNvPr id="25" name="Diagram Label"/>
          <p:cNvSpPr txBox="1"/>
          <p:nvPr/>
        </p:nvSpPr>
        <p:spPr>
          <a:xfrm>
            <a:off x="8641080" y="3063240"/>
            <a:ext cx="2770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레이마칭 스텝마다 계산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(복셀 8m보다 작은 디테일)</a:t>
            </a:r>
            <a:endParaRPr lang="en-US" sz="1300" dirty="0"/>
          </a:p>
        </p:txBody>
      </p:sp>
      <p:sp>
        <p:nvSpPr>
          <p:cNvPr id="26" name="Block"/>
          <p:cNvSpPr/>
          <p:nvPr/>
        </p:nvSpPr>
        <p:spPr>
          <a:xfrm>
            <a:off x="8412480" y="5212080"/>
            <a:ext cx="322783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25400">
            <a:solidFill>
              <a:schemeClr val="accent6"/>
            </a:solidFill>
            <a:prstDash val="solid"/>
          </a:ln>
        </p:spPr>
      </p:sp>
      <p:sp>
        <p:nvSpPr>
          <p:cNvPr id="27" name="Diagram Label"/>
          <p:cNvSpPr txBox="1"/>
          <p:nvPr/>
        </p:nvSpPr>
        <p:spPr>
          <a:xfrm>
            <a:off x="8641080" y="5349240"/>
            <a:ext cx="2770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레이마칭: 빈 공간 건너뛰기</a:t>
            </a:r>
            <a:endParaRPr lang="en-US" sz="1600" dirty="0"/>
          </a:p>
        </p:txBody>
      </p:sp>
      <p:sp>
        <p:nvSpPr>
          <p:cNvPr id="28" name="Arrow"/>
          <p:cNvSpPr/>
          <p:nvPr/>
        </p:nvSpPr>
        <p:spPr>
          <a:xfrm>
            <a:off x="4069080" y="2560320"/>
            <a:ext cx="822960" cy="5486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 flipV="1">
            <a:off x="4069080" y="3749040"/>
            <a:ext cx="822960" cy="7772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7726680" y="3383280"/>
            <a:ext cx="64008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Arrow"/>
          <p:cNvSpPr/>
          <p:nvPr/>
        </p:nvSpPr>
        <p:spPr>
          <a:xfrm flipV="1">
            <a:off x="4069080" y="5669280"/>
            <a:ext cx="4297680" cy="18288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Schneider 2023, Nubis³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 Voxel Cloud Pack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준비</a:t>
            </a:r>
            <a:endParaRPr lang="en-US" sz="3000" dirty="0"/>
          </a:p>
        </p:txBody>
      </p:sp>
      <p:sp>
        <p:nvSpPr>
          <p:cNvPr id="3" name="Pipe Box"/>
          <p:cNvSpPr/>
          <p:nvPr/>
        </p:nvSpPr>
        <p:spPr>
          <a:xfrm>
            <a:off x="5486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Diagram Label"/>
          <p:cNvSpPr txBox="1"/>
          <p:nvPr/>
        </p:nvSpPr>
        <p:spPr>
          <a:xfrm>
            <a:off x="54864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TGA 슬라이스</a:t>
            </a:r>
            <a:endParaRPr lang="en-US" sz="1400" dirty="0"/>
          </a:p>
        </p:txBody>
      </p:sp>
      <p:sp>
        <p:nvSpPr>
          <p:cNvPr id="5" name="Diagram Label"/>
          <p:cNvSpPr txBox="1"/>
          <p:nvPr/>
        </p:nvSpPr>
        <p:spPr>
          <a:xfrm>
            <a:off x="548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512² × 64장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514600" y="1874520"/>
            <a:ext cx="27432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Pipe Box"/>
          <p:cNvSpPr/>
          <p:nvPr/>
        </p:nvSpPr>
        <p:spPr>
          <a:xfrm>
            <a:off x="28346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Diagram Label"/>
          <p:cNvSpPr txBox="1"/>
          <p:nvPr/>
        </p:nvSpPr>
        <p:spPr>
          <a:xfrm>
            <a:off x="283464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texassemble</a:t>
            </a:r>
            <a:endParaRPr lang="en-US" sz="1400" dirty="0"/>
          </a:p>
        </p:txBody>
      </p:sp>
      <p:sp>
        <p:nvSpPr>
          <p:cNvPr id="9" name="Diagram Label"/>
          <p:cNvSpPr txBox="1"/>
          <p:nvPr/>
        </p:nvSpPr>
        <p:spPr>
          <a:xfrm>
            <a:off x="2834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volume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4800600" y="1874520"/>
            <a:ext cx="27432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Pipe Box"/>
          <p:cNvSpPr/>
          <p:nvPr/>
        </p:nvSpPr>
        <p:spPr>
          <a:xfrm>
            <a:off x="51206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Diagram Label"/>
          <p:cNvSpPr txBox="1"/>
          <p:nvPr/>
        </p:nvSpPr>
        <p:spPr>
          <a:xfrm>
            <a:off x="512064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3D DDS</a:t>
            </a:r>
            <a:endParaRPr lang="en-US" sz="1400" dirty="0"/>
          </a:p>
        </p:txBody>
      </p:sp>
      <p:sp>
        <p:nvSpPr>
          <p:cNvPr id="13" name="Diagram Label"/>
          <p:cNvSpPr txBox="1"/>
          <p:nvPr/>
        </p:nvSpPr>
        <p:spPr>
          <a:xfrm>
            <a:off x="5120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BC 없음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7086600" y="1874520"/>
            <a:ext cx="27432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Pipe Box"/>
          <p:cNvSpPr/>
          <p:nvPr/>
        </p:nvSpPr>
        <p:spPr>
          <a:xfrm>
            <a:off x="74066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Diagram Label"/>
          <p:cNvSpPr txBox="1"/>
          <p:nvPr/>
        </p:nvSpPr>
        <p:spPr>
          <a:xfrm>
            <a:off x="740664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TextureManager</a:t>
            </a:r>
            <a:endParaRPr lang="en-US" sz="1400" dirty="0"/>
          </a:p>
        </p:txBody>
      </p:sp>
      <p:sp>
        <p:nvSpPr>
          <p:cNvPr id="17" name="Diagram Label"/>
          <p:cNvSpPr txBox="1"/>
          <p:nvPr/>
        </p:nvSpPr>
        <p:spPr>
          <a:xfrm>
            <a:off x="7406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로드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>
            <a:off x="9372600" y="1874520"/>
            <a:ext cx="27432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Pipe Box"/>
          <p:cNvSpPr/>
          <p:nvPr/>
        </p:nvSpPr>
        <p:spPr>
          <a:xfrm>
            <a:off x="96926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0" name="Diagram Label"/>
          <p:cNvSpPr txBox="1"/>
          <p:nvPr/>
        </p:nvSpPr>
        <p:spPr>
          <a:xfrm>
            <a:off x="9692640" y="1481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셰이더</a:t>
            </a:r>
            <a:endParaRPr lang="en-US" sz="1400" dirty="0"/>
          </a:p>
        </p:txBody>
      </p:sp>
      <p:sp>
        <p:nvSpPr>
          <p:cNvPr id="21" name="Diagram Label"/>
          <p:cNvSpPr txBox="1"/>
          <p:nvPr/>
        </p:nvSpPr>
        <p:spPr>
          <a:xfrm>
            <a:off x="96926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z-up → y-up</a:t>
            </a:r>
            <a:endParaRPr lang="en-US" sz="1200" dirty="0"/>
          </a:p>
        </p:txBody>
      </p:sp>
      <p:sp>
        <p:nvSpPr>
          <p:cNvPr id="22" name="Body Text"/>
          <p:cNvSpPr txBox="1"/>
          <p:nvPr/>
        </p:nvSpPr>
        <p:spPr>
          <a:xfrm>
            <a:off x="548640" y="274320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Nubis Voxel Cloud Pack (Guerrilla 공개)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Modeling / Field 볼륨 + 128³ 노이즈 (Alligator 계열 4채널)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배치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구름 박스 4096 × 512 × 4096m, 고도 2km → 복셀 1개 = 8m</a:t>
            </a:r>
            <a:endParaRPr lang="en-US" sz="1400" dirty="0"/>
          </a:p>
        </p:txBody>
      </p:sp>
      <p:sp>
        <p:nvSpPr>
          <p:cNvPr id="23" name="Bug Callout"/>
          <p:cNvSpPr/>
          <p:nvPr/>
        </p:nvSpPr>
        <p:spPr>
          <a:xfrm>
            <a:off x="548640" y="4892040"/>
            <a:ext cx="585216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Bug Text"/>
          <p:cNvSpPr txBox="1"/>
          <p:nvPr/>
        </p:nvSpPr>
        <p:spPr>
          <a:xfrm>
            <a:off x="731520" y="493776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버그 사례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SDF가 슬라이스마다 똑같이 보임 → R8 변환 때 휘도 변환이 끼어들어 값이 망가짐 → 4채널로 변환해 해결</a:t>
            </a:r>
            <a:endParaRPr lang="en-US" sz="1300" dirty="0"/>
          </a:p>
        </p:txBody>
      </p:sp>
      <p:sp>
        <p:nvSpPr>
          <p:cNvPr id="25" name="TODO Image Placeholder"/>
          <p:cNvSpPr/>
          <p:nvPr/>
        </p:nvSpPr>
        <p:spPr>
          <a:xfrm>
            <a:off x="6766560" y="2743200"/>
            <a:ext cx="4873752" cy="33832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6" name="TODO Image Label"/>
          <p:cNvSpPr txBox="1"/>
          <p:nvPr/>
        </p:nvSpPr>
        <p:spPr>
          <a:xfrm>
            <a:off x="6949440" y="2743200"/>
            <a:ext cx="45079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디버그 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Modeling R/G/B, SDF 슬라이스</a:t>
            </a:r>
            <a:endParaRPr lang="en-US" sz="1300" dirty="0"/>
          </a:p>
        </p:txBody>
      </p:sp>
      <p:sp>
        <p:nvSpPr>
          <p:cNvPr id="2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 Voxel Cloud Pack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Schneider 2023, Nubis³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밀도: 노이즈로 가장자리 깎기 (Erosion)</a:t>
            </a:r>
            <a:endParaRPr lang="en-US" sz="3000" dirty="0"/>
          </a:p>
        </p:txBody>
      </p:sp>
      <p:graphicFrame>
        <p:nvGraphicFramePr>
          <p:cNvPr id="3" name="Erosion Chart" descr=""/>
          <p:cNvGraphicFramePr/>
          <p:nvPr/>
        </p:nvGraphicFramePr>
        <p:xfrm>
          <a:off x="548640" y="123444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ormula Box"/>
          <p:cNvSpPr/>
          <p:nvPr/>
        </p:nvSpPr>
        <p:spPr>
          <a:xfrm>
            <a:off x="548640" y="5120640"/>
            <a:ext cx="58521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Formula erosion" descr="\rho = \mathrm{saturate}\!\left(\frac{P - n}{1 - n}\right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734" y="5274168"/>
            <a:ext cx="3071973" cy="744504"/>
          </a:xfrm>
          <a:prstGeom prst="rect">
            <a:avLst/>
          </a:prstGeom>
        </p:spPr>
      </p:pic>
      <p:sp>
        <p:nvSpPr>
          <p:cNvPr id="6" name="Body Text"/>
          <p:cNvSpPr txBox="1"/>
          <p:nvPr/>
        </p:nvSpPr>
        <p:spPr>
          <a:xfrm>
            <a:off x="6766560" y="1280160"/>
            <a:ext cx="48737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노이즈 값 = 깎이는 문턱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내부(Profile ≈ 1)는 거의 안 깎이고, 가장자리만 노이즈 모양으로 사라짐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8m 복셀보다 작은 디테일을 런타임에 만듦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멀수록 노이즈 밉을 낮춰 반짝임 방지</a:t>
            </a:r>
            <a:endParaRPr lang="en-US" sz="1400" dirty="0"/>
          </a:p>
        </p:txBody>
      </p:sp>
      <p:sp>
        <p:nvSpPr>
          <p:cNvPr id="7" name="TODO Image Placeholder"/>
          <p:cNvSpPr/>
          <p:nvPr/>
        </p:nvSpPr>
        <p:spPr>
          <a:xfrm>
            <a:off x="6766560" y="3840480"/>
            <a:ext cx="4873752" cy="23317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8" name="TODO Image Label"/>
          <p:cNvSpPr txBox="1"/>
          <p:nvPr/>
        </p:nvSpPr>
        <p:spPr>
          <a:xfrm>
            <a:off x="6949440" y="3840480"/>
            <a:ext cx="45079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Profile만 / 노이즈 적용 후 비교</a:t>
            </a:r>
            <a:endParaRPr lang="en-US" sz="1300" dirty="0"/>
          </a:p>
        </p:txBody>
      </p:sp>
      <p:sp>
        <p:nvSpPr>
          <p:cNvPr id="9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Nubis³ 밀도 샘플러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Frostnova (근거리 페이드)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레이마칭: SDF로 빈 공간 건너뛰기</a:t>
            </a:r>
            <a:endParaRPr lang="en-US" sz="3000" dirty="0"/>
          </a:p>
        </p:txBody>
      </p:sp>
      <p:sp>
        <p:nvSpPr>
          <p:cNvPr id="3" name="Camera Body"/>
          <p:cNvSpPr/>
          <p:nvPr/>
        </p:nvSpPr>
        <p:spPr>
          <a:xfrm>
            <a:off x="594360" y="3410712"/>
            <a:ext cx="365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amera Lens"/>
          <p:cNvSpPr/>
          <p:nvPr/>
        </p:nvSpPr>
        <p:spPr>
          <a:xfrm rot="5400000">
            <a:off x="914400" y="3438144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iagram Label"/>
          <p:cNvSpPr txBox="1"/>
          <p:nvPr/>
        </p:nvSpPr>
        <p:spPr>
          <a:xfrm>
            <a:off x="365760" y="3749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카메라</a:t>
            </a:r>
            <a:endParaRPr lang="en-US" sz="1100" dirty="0"/>
          </a:p>
        </p:txBody>
      </p:sp>
      <p:sp>
        <p:nvSpPr>
          <p:cNvPr id="6" name="Cloud Box"/>
          <p:cNvSpPr/>
          <p:nvPr/>
        </p:nvSpPr>
        <p:spPr>
          <a:xfrm>
            <a:off x="1828800" y="1463040"/>
            <a:ext cx="5486400" cy="4023360"/>
          </a:xfrm>
          <a:prstGeom prst="rect">
            <a:avLst/>
          </a:prstGeom>
          <a:ln w="15875">
            <a:solidFill>
              <a:schemeClr val="accent6"/>
            </a:solidFill>
            <a:prstDash val="dash"/>
          </a:ln>
        </p:spPr>
      </p:sp>
      <p:sp>
        <p:nvSpPr>
          <p:cNvPr id="7" name="Diagram Label"/>
          <p:cNvSpPr txBox="1"/>
          <p:nvPr/>
        </p:nvSpPr>
        <p:spPr>
          <a:xfrm>
            <a:off x="192024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구름 박스</a:t>
            </a:r>
            <a:endParaRPr lang="en-US" sz="1100" dirty="0"/>
          </a:p>
        </p:txBody>
      </p:sp>
      <p:sp>
        <p:nvSpPr>
          <p:cNvPr id="8" name="Cloud"/>
          <p:cNvSpPr/>
          <p:nvPr/>
        </p:nvSpPr>
        <p:spPr>
          <a:xfrm>
            <a:off x="4754880" y="2651760"/>
            <a:ext cx="2194560" cy="15544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9" name="Cloud"/>
          <p:cNvSpPr/>
          <p:nvPr/>
        </p:nvSpPr>
        <p:spPr>
          <a:xfrm>
            <a:off x="4491533" y="3032608"/>
            <a:ext cx="1316736" cy="116586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0" name="Cloud"/>
          <p:cNvSpPr/>
          <p:nvPr/>
        </p:nvSpPr>
        <p:spPr>
          <a:xfrm>
            <a:off x="5874106" y="2962656"/>
            <a:ext cx="1360627" cy="1243584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1" name="Cloud"/>
          <p:cNvSpPr/>
          <p:nvPr/>
        </p:nvSpPr>
        <p:spPr>
          <a:xfrm>
            <a:off x="5303520" y="2496312"/>
            <a:ext cx="1316736" cy="1088136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2" name="View Ray"/>
          <p:cNvSpPr/>
          <p:nvPr/>
        </p:nvSpPr>
        <p:spPr>
          <a:xfrm>
            <a:off x="1188720" y="3566160"/>
            <a:ext cx="640080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3" name="SDF Sphere"/>
          <p:cNvSpPr/>
          <p:nvPr/>
        </p:nvSpPr>
        <p:spPr>
          <a:xfrm>
            <a:off x="1874520" y="2788920"/>
            <a:ext cx="1554480" cy="1554480"/>
          </a:xfrm>
          <a:prstGeom prst="ellipse">
            <a:avLst/>
          </a:prstGeom>
          <a:ln w="15875">
            <a:solidFill>
              <a:srgbClr val="F28C38"/>
            </a:solidFill>
            <a:prstDash val="dash"/>
          </a:ln>
        </p:spPr>
      </p:sp>
      <p:sp>
        <p:nvSpPr>
          <p:cNvPr id="14" name="Diagram Dot"/>
          <p:cNvSpPr/>
          <p:nvPr/>
        </p:nvSpPr>
        <p:spPr>
          <a:xfrm>
            <a:off x="2596896" y="35112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DF Sphere"/>
          <p:cNvSpPr/>
          <p:nvPr/>
        </p:nvSpPr>
        <p:spPr>
          <a:xfrm>
            <a:off x="2971800" y="3108960"/>
            <a:ext cx="914400" cy="914400"/>
          </a:xfrm>
          <a:prstGeom prst="ellipse">
            <a:avLst/>
          </a:prstGeom>
          <a:ln w="15875">
            <a:solidFill>
              <a:srgbClr val="F28C38"/>
            </a:solidFill>
            <a:prstDash val="dash"/>
          </a:ln>
        </p:spPr>
      </p:sp>
      <p:sp>
        <p:nvSpPr>
          <p:cNvPr id="16" name="Diagram Dot"/>
          <p:cNvSpPr/>
          <p:nvPr/>
        </p:nvSpPr>
        <p:spPr>
          <a:xfrm>
            <a:off x="3374136" y="35112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DF Sphere"/>
          <p:cNvSpPr/>
          <p:nvPr/>
        </p:nvSpPr>
        <p:spPr>
          <a:xfrm>
            <a:off x="3584448" y="3264408"/>
            <a:ext cx="603504" cy="603504"/>
          </a:xfrm>
          <a:prstGeom prst="ellipse">
            <a:avLst/>
          </a:prstGeom>
          <a:ln w="15875">
            <a:solidFill>
              <a:srgbClr val="F28C38"/>
            </a:solidFill>
            <a:prstDash val="dash"/>
          </a:ln>
        </p:spPr>
      </p:sp>
      <p:sp>
        <p:nvSpPr>
          <p:cNvPr id="18" name="Diagram Dot"/>
          <p:cNvSpPr/>
          <p:nvPr/>
        </p:nvSpPr>
        <p:spPr>
          <a:xfrm>
            <a:off x="3831336" y="35112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DF Sphere"/>
          <p:cNvSpPr/>
          <p:nvPr/>
        </p:nvSpPr>
        <p:spPr>
          <a:xfrm>
            <a:off x="3986784" y="3364992"/>
            <a:ext cx="402336" cy="402336"/>
          </a:xfrm>
          <a:prstGeom prst="ellipse">
            <a:avLst/>
          </a:prstGeom>
          <a:ln w="15875">
            <a:solidFill>
              <a:srgbClr val="F28C38"/>
            </a:solidFill>
            <a:prstDash val="dash"/>
          </a:ln>
        </p:spPr>
      </p:sp>
      <p:sp>
        <p:nvSpPr>
          <p:cNvPr id="20" name="Diagram Dot"/>
          <p:cNvSpPr/>
          <p:nvPr/>
        </p:nvSpPr>
        <p:spPr>
          <a:xfrm>
            <a:off x="4133088" y="3511296"/>
            <a:ext cx="109728" cy="1097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iagram Label"/>
          <p:cNvSpPr txBox="1"/>
          <p:nvPr/>
        </p:nvSpPr>
        <p:spPr>
          <a:xfrm>
            <a:off x="21031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SDF만큼 한 번에 점프</a:t>
            </a:r>
            <a:endParaRPr lang="en-US" sz="1300" dirty="0"/>
          </a:p>
        </p:txBody>
      </p:sp>
      <p:sp>
        <p:nvSpPr>
          <p:cNvPr id="22" name="Diagram Dot"/>
          <p:cNvSpPr/>
          <p:nvPr/>
        </p:nvSpPr>
        <p:spPr>
          <a:xfrm>
            <a:off x="4754880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Diagram Dot"/>
          <p:cNvSpPr/>
          <p:nvPr/>
        </p:nvSpPr>
        <p:spPr>
          <a:xfrm>
            <a:off x="4910328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Diagram Dot"/>
          <p:cNvSpPr/>
          <p:nvPr/>
        </p:nvSpPr>
        <p:spPr>
          <a:xfrm>
            <a:off x="5073548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Diagram Dot"/>
          <p:cNvSpPr/>
          <p:nvPr/>
        </p:nvSpPr>
        <p:spPr>
          <a:xfrm>
            <a:off x="5244930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Diagram Dot"/>
          <p:cNvSpPr/>
          <p:nvPr/>
        </p:nvSpPr>
        <p:spPr>
          <a:xfrm>
            <a:off x="5424880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Diagram Dot"/>
          <p:cNvSpPr/>
          <p:nvPr/>
        </p:nvSpPr>
        <p:spPr>
          <a:xfrm>
            <a:off x="5613828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Diagram Dot"/>
          <p:cNvSpPr/>
          <p:nvPr/>
        </p:nvSpPr>
        <p:spPr>
          <a:xfrm>
            <a:off x="5812224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Diagram Dot"/>
          <p:cNvSpPr/>
          <p:nvPr/>
        </p:nvSpPr>
        <p:spPr>
          <a:xfrm>
            <a:off x="6020539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Diagram Dot"/>
          <p:cNvSpPr/>
          <p:nvPr/>
        </p:nvSpPr>
        <p:spPr>
          <a:xfrm>
            <a:off x="6239270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Diagram Dot"/>
          <p:cNvSpPr/>
          <p:nvPr/>
        </p:nvSpPr>
        <p:spPr>
          <a:xfrm>
            <a:off x="6468937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Diagram Dot"/>
          <p:cNvSpPr/>
          <p:nvPr/>
        </p:nvSpPr>
        <p:spPr>
          <a:xfrm>
            <a:off x="6710088" y="35204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Diagram Label"/>
          <p:cNvSpPr txBox="1"/>
          <p:nvPr/>
        </p:nvSpPr>
        <p:spPr>
          <a:xfrm>
            <a:off x="402336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구름 안: 작은 스텝으로 밀도·조명 샘플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7863840" y="1280160"/>
            <a:ext cx="3776472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ard Dot"/>
          <p:cNvSpPr/>
          <p:nvPr/>
        </p:nvSpPr>
        <p:spPr>
          <a:xfrm>
            <a:off x="8092440" y="15087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Card Title"/>
          <p:cNvSpPr txBox="1"/>
          <p:nvPr/>
        </p:nvSpPr>
        <p:spPr>
          <a:xfrm>
            <a:off x="8503920" y="144475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sqrt 스텝</a:t>
            </a:r>
            <a:endParaRPr lang="en-US" sz="1600" dirty="0"/>
          </a:p>
        </p:txBody>
      </p:sp>
      <p:sp>
        <p:nvSpPr>
          <p:cNvPr id="37" name="Card Body"/>
          <p:cNvSpPr txBox="1"/>
          <p:nvPr/>
        </p:nvSpPr>
        <p:spPr>
          <a:xfrm>
            <a:off x="8092440" y="1965960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화면 픽셀이 덮는 거리는 멀수록 커짐 → 거리의 제곱근에 비례한 스텝</a:t>
            </a:r>
            <a:endParaRPr lang="en-US" sz="1300" dirty="0"/>
          </a:p>
        </p:txBody>
      </p:sp>
      <p:sp>
        <p:nvSpPr>
          <p:cNvPr id="38" name="Card"/>
          <p:cNvSpPr/>
          <p:nvPr/>
        </p:nvSpPr>
        <p:spPr>
          <a:xfrm>
            <a:off x="7863840" y="2926080"/>
            <a:ext cx="37764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Dot"/>
          <p:cNvSpPr/>
          <p:nvPr/>
        </p:nvSpPr>
        <p:spPr>
          <a:xfrm>
            <a:off x="8092440" y="315468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Card Title"/>
          <p:cNvSpPr txBox="1"/>
          <p:nvPr/>
        </p:nvSpPr>
        <p:spPr>
          <a:xfrm>
            <a:off x="8503920" y="309067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조기 종료</a:t>
            </a:r>
            <a:endParaRPr lang="en-US" sz="1600" dirty="0"/>
          </a:p>
        </p:txBody>
      </p:sp>
      <p:sp>
        <p:nvSpPr>
          <p:cNvPr id="41" name="Card Body"/>
          <p:cNvSpPr txBox="1"/>
          <p:nvPr/>
        </p:nvSpPr>
        <p:spPr>
          <a:xfrm>
            <a:off x="8092440" y="361188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투과율 1% 미만이면 뒤쪽은 거의 안 보임 → 중단</a:t>
            </a:r>
            <a:endParaRPr lang="en-US" sz="1300" dirty="0"/>
          </a:p>
        </p:txBody>
      </p:sp>
      <p:sp>
        <p:nvSpPr>
          <p:cNvPr id="42" name="Card"/>
          <p:cNvSpPr/>
          <p:nvPr/>
        </p:nvSpPr>
        <p:spPr>
          <a:xfrm>
            <a:off x="7863840" y="4343400"/>
            <a:ext cx="37764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Card Dot"/>
          <p:cNvSpPr/>
          <p:nvPr/>
        </p:nvSpPr>
        <p:spPr>
          <a:xfrm>
            <a:off x="8092440" y="457200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Card Title"/>
          <p:cNvSpPr txBox="1"/>
          <p:nvPr/>
        </p:nvSpPr>
        <p:spPr>
          <a:xfrm>
            <a:off x="8503920" y="4507992"/>
            <a:ext cx="2953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깊이 제한</a:t>
            </a:r>
            <a:endParaRPr lang="en-US" sz="1600" dirty="0"/>
          </a:p>
        </p:txBody>
      </p:sp>
      <p:sp>
        <p:nvSpPr>
          <p:cNvPr id="45" name="Card Body"/>
          <p:cNvSpPr txBox="1"/>
          <p:nvPr/>
        </p:nvSpPr>
        <p:spPr>
          <a:xfrm>
            <a:off x="8092440" y="5029200"/>
            <a:ext cx="3319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깊이 버퍼까지만 → 산 뒤 구름은 그리지 않음</a:t>
            </a:r>
            <a:endParaRPr lang="en-US" sz="1300" dirty="0"/>
          </a:p>
        </p:txBody>
      </p:sp>
      <p:sp>
        <p:nvSpPr>
          <p:cNvPr id="46" name="Diagram Label"/>
          <p:cNvSpPr txBox="1"/>
          <p:nvPr/>
        </p:nvSpPr>
        <p:spPr>
          <a:xfrm>
            <a:off x="1828800" y="5623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SDF + 적응 스텝으로 10ms → 2.2ms (참고 수치)</a:t>
            </a:r>
            <a:endParaRPr lang="en-US" sz="1300" dirty="0"/>
          </a:p>
        </p:txBody>
      </p:sp>
      <p:sp>
        <p:nvSpPr>
          <p:cNvPr id="4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Nubis³ 레이마칭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Sphere Tracing: Hart 1996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IGN 지터: 줄무늬를 노이즈로</a:t>
            </a:r>
            <a:endParaRPr lang="en-US" sz="3000" dirty="0"/>
          </a:p>
        </p:txBody>
      </p:sp>
      <p:sp>
        <p:nvSpPr>
          <p:cNvPr id="3" name="Diagram Label"/>
          <p:cNvSpPr txBox="1"/>
          <p:nvPr/>
        </p:nvSpPr>
        <p:spPr>
          <a:xfrm>
            <a:off x="54864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지터 없음</a:t>
            </a:r>
            <a:endParaRPr lang="en-US" sz="1600" dirty="0"/>
          </a:p>
        </p:txBody>
      </p:sp>
      <p:sp>
        <p:nvSpPr>
          <p:cNvPr id="4" name="Cloud"/>
          <p:cNvSpPr/>
          <p:nvPr/>
        </p:nvSpPr>
        <p:spPr>
          <a:xfrm>
            <a:off x="2377440" y="1737360"/>
            <a:ext cx="2926080" cy="192024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5" name="Cloud"/>
          <p:cNvSpPr/>
          <p:nvPr/>
        </p:nvSpPr>
        <p:spPr>
          <a:xfrm>
            <a:off x="2026310" y="2207819"/>
            <a:ext cx="1755648" cy="144018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6" name="Cloud"/>
          <p:cNvSpPr/>
          <p:nvPr/>
        </p:nvSpPr>
        <p:spPr>
          <a:xfrm>
            <a:off x="3869741" y="2121408"/>
            <a:ext cx="1814170" cy="1536192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7" name="Cloud"/>
          <p:cNvSpPr/>
          <p:nvPr/>
        </p:nvSpPr>
        <p:spPr>
          <a:xfrm>
            <a:off x="3108960" y="1545336"/>
            <a:ext cx="1755648" cy="1344168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" name="Pixel Ray"/>
          <p:cNvSpPr/>
          <p:nvPr/>
        </p:nvSpPr>
        <p:spPr>
          <a:xfrm>
            <a:off x="822960" y="1920240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Diagram Dot"/>
          <p:cNvSpPr/>
          <p:nvPr/>
        </p:nvSpPr>
        <p:spPr>
          <a:xfrm>
            <a:off x="105156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Diagram Dot"/>
          <p:cNvSpPr/>
          <p:nvPr/>
        </p:nvSpPr>
        <p:spPr>
          <a:xfrm>
            <a:off x="155448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Diagram Dot"/>
          <p:cNvSpPr/>
          <p:nvPr/>
        </p:nvSpPr>
        <p:spPr>
          <a:xfrm>
            <a:off x="205740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Diagram Dot"/>
          <p:cNvSpPr/>
          <p:nvPr/>
        </p:nvSpPr>
        <p:spPr>
          <a:xfrm>
            <a:off x="256032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Diagram Dot"/>
          <p:cNvSpPr/>
          <p:nvPr/>
        </p:nvSpPr>
        <p:spPr>
          <a:xfrm>
            <a:off x="306324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Diagram Dot"/>
          <p:cNvSpPr/>
          <p:nvPr/>
        </p:nvSpPr>
        <p:spPr>
          <a:xfrm>
            <a:off x="356616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Diagram Dot"/>
          <p:cNvSpPr/>
          <p:nvPr/>
        </p:nvSpPr>
        <p:spPr>
          <a:xfrm>
            <a:off x="406908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Diagram Dot"/>
          <p:cNvSpPr/>
          <p:nvPr/>
        </p:nvSpPr>
        <p:spPr>
          <a:xfrm>
            <a:off x="457200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Diagram Dot"/>
          <p:cNvSpPr/>
          <p:nvPr/>
        </p:nvSpPr>
        <p:spPr>
          <a:xfrm>
            <a:off x="5074920" y="187452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ixel Ray"/>
          <p:cNvSpPr/>
          <p:nvPr/>
        </p:nvSpPr>
        <p:spPr>
          <a:xfrm>
            <a:off x="822960" y="2176272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Diagram Dot"/>
          <p:cNvSpPr/>
          <p:nvPr/>
        </p:nvSpPr>
        <p:spPr>
          <a:xfrm>
            <a:off x="105156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Diagram Dot"/>
          <p:cNvSpPr/>
          <p:nvPr/>
        </p:nvSpPr>
        <p:spPr>
          <a:xfrm>
            <a:off x="155448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Diagram Dot"/>
          <p:cNvSpPr/>
          <p:nvPr/>
        </p:nvSpPr>
        <p:spPr>
          <a:xfrm>
            <a:off x="205740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Diagram Dot"/>
          <p:cNvSpPr/>
          <p:nvPr/>
        </p:nvSpPr>
        <p:spPr>
          <a:xfrm>
            <a:off x="256032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Diagram Dot"/>
          <p:cNvSpPr/>
          <p:nvPr/>
        </p:nvSpPr>
        <p:spPr>
          <a:xfrm>
            <a:off x="306324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Diagram Dot"/>
          <p:cNvSpPr/>
          <p:nvPr/>
        </p:nvSpPr>
        <p:spPr>
          <a:xfrm>
            <a:off x="356616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Diagram Dot"/>
          <p:cNvSpPr/>
          <p:nvPr/>
        </p:nvSpPr>
        <p:spPr>
          <a:xfrm>
            <a:off x="406908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Diagram Dot"/>
          <p:cNvSpPr/>
          <p:nvPr/>
        </p:nvSpPr>
        <p:spPr>
          <a:xfrm>
            <a:off x="457200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Diagram Dot"/>
          <p:cNvSpPr/>
          <p:nvPr/>
        </p:nvSpPr>
        <p:spPr>
          <a:xfrm>
            <a:off x="5074920" y="213055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Pixel Ray"/>
          <p:cNvSpPr/>
          <p:nvPr/>
        </p:nvSpPr>
        <p:spPr>
          <a:xfrm>
            <a:off x="822960" y="2432304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9" name="Diagram Dot"/>
          <p:cNvSpPr/>
          <p:nvPr/>
        </p:nvSpPr>
        <p:spPr>
          <a:xfrm>
            <a:off x="105156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Diagram Dot"/>
          <p:cNvSpPr/>
          <p:nvPr/>
        </p:nvSpPr>
        <p:spPr>
          <a:xfrm>
            <a:off x="155448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Diagram Dot"/>
          <p:cNvSpPr/>
          <p:nvPr/>
        </p:nvSpPr>
        <p:spPr>
          <a:xfrm>
            <a:off x="205740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Diagram Dot"/>
          <p:cNvSpPr/>
          <p:nvPr/>
        </p:nvSpPr>
        <p:spPr>
          <a:xfrm>
            <a:off x="256032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Diagram Dot"/>
          <p:cNvSpPr/>
          <p:nvPr/>
        </p:nvSpPr>
        <p:spPr>
          <a:xfrm>
            <a:off x="306324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Diagram Dot"/>
          <p:cNvSpPr/>
          <p:nvPr/>
        </p:nvSpPr>
        <p:spPr>
          <a:xfrm>
            <a:off x="356616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Diagram Dot"/>
          <p:cNvSpPr/>
          <p:nvPr/>
        </p:nvSpPr>
        <p:spPr>
          <a:xfrm>
            <a:off x="406908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Diagram Dot"/>
          <p:cNvSpPr/>
          <p:nvPr/>
        </p:nvSpPr>
        <p:spPr>
          <a:xfrm>
            <a:off x="457200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Diagram Dot"/>
          <p:cNvSpPr/>
          <p:nvPr/>
        </p:nvSpPr>
        <p:spPr>
          <a:xfrm>
            <a:off x="5074920" y="2386584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ixel Ray"/>
          <p:cNvSpPr/>
          <p:nvPr/>
        </p:nvSpPr>
        <p:spPr>
          <a:xfrm>
            <a:off x="822960" y="2688336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9" name="Diagram Dot"/>
          <p:cNvSpPr/>
          <p:nvPr/>
        </p:nvSpPr>
        <p:spPr>
          <a:xfrm>
            <a:off x="105156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Diagram Dot"/>
          <p:cNvSpPr/>
          <p:nvPr/>
        </p:nvSpPr>
        <p:spPr>
          <a:xfrm>
            <a:off x="155448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Diagram Dot"/>
          <p:cNvSpPr/>
          <p:nvPr/>
        </p:nvSpPr>
        <p:spPr>
          <a:xfrm>
            <a:off x="205740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Diagram Dot"/>
          <p:cNvSpPr/>
          <p:nvPr/>
        </p:nvSpPr>
        <p:spPr>
          <a:xfrm>
            <a:off x="256032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Diagram Dot"/>
          <p:cNvSpPr/>
          <p:nvPr/>
        </p:nvSpPr>
        <p:spPr>
          <a:xfrm>
            <a:off x="306324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Diagram Dot"/>
          <p:cNvSpPr/>
          <p:nvPr/>
        </p:nvSpPr>
        <p:spPr>
          <a:xfrm>
            <a:off x="356616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Diagram Dot"/>
          <p:cNvSpPr/>
          <p:nvPr/>
        </p:nvSpPr>
        <p:spPr>
          <a:xfrm>
            <a:off x="406908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Diagram Dot"/>
          <p:cNvSpPr/>
          <p:nvPr/>
        </p:nvSpPr>
        <p:spPr>
          <a:xfrm>
            <a:off x="457200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Diagram Dot"/>
          <p:cNvSpPr/>
          <p:nvPr/>
        </p:nvSpPr>
        <p:spPr>
          <a:xfrm>
            <a:off x="5074920" y="2642616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ixel Ray"/>
          <p:cNvSpPr/>
          <p:nvPr/>
        </p:nvSpPr>
        <p:spPr>
          <a:xfrm>
            <a:off x="822960" y="2944368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9" name="Diagram Dot"/>
          <p:cNvSpPr/>
          <p:nvPr/>
        </p:nvSpPr>
        <p:spPr>
          <a:xfrm>
            <a:off x="105156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Diagram Dot"/>
          <p:cNvSpPr/>
          <p:nvPr/>
        </p:nvSpPr>
        <p:spPr>
          <a:xfrm>
            <a:off x="155448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Diagram Dot"/>
          <p:cNvSpPr/>
          <p:nvPr/>
        </p:nvSpPr>
        <p:spPr>
          <a:xfrm>
            <a:off x="205740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Diagram Dot"/>
          <p:cNvSpPr/>
          <p:nvPr/>
        </p:nvSpPr>
        <p:spPr>
          <a:xfrm>
            <a:off x="256032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Diagram Dot"/>
          <p:cNvSpPr/>
          <p:nvPr/>
        </p:nvSpPr>
        <p:spPr>
          <a:xfrm>
            <a:off x="306324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Diagram Dot"/>
          <p:cNvSpPr/>
          <p:nvPr/>
        </p:nvSpPr>
        <p:spPr>
          <a:xfrm>
            <a:off x="356616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5" name="Diagram Dot"/>
          <p:cNvSpPr/>
          <p:nvPr/>
        </p:nvSpPr>
        <p:spPr>
          <a:xfrm>
            <a:off x="406908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6" name="Diagram Dot"/>
          <p:cNvSpPr/>
          <p:nvPr/>
        </p:nvSpPr>
        <p:spPr>
          <a:xfrm>
            <a:off x="457200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7" name="Diagram Dot"/>
          <p:cNvSpPr/>
          <p:nvPr/>
        </p:nvSpPr>
        <p:spPr>
          <a:xfrm>
            <a:off x="5074920" y="2898648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8" name="Pixel Ray"/>
          <p:cNvSpPr/>
          <p:nvPr/>
        </p:nvSpPr>
        <p:spPr>
          <a:xfrm>
            <a:off x="822960" y="3200400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9" name="Diagram Dot"/>
          <p:cNvSpPr/>
          <p:nvPr/>
        </p:nvSpPr>
        <p:spPr>
          <a:xfrm>
            <a:off x="105156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0" name="Diagram Dot"/>
          <p:cNvSpPr/>
          <p:nvPr/>
        </p:nvSpPr>
        <p:spPr>
          <a:xfrm>
            <a:off x="155448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1" name="Diagram Dot"/>
          <p:cNvSpPr/>
          <p:nvPr/>
        </p:nvSpPr>
        <p:spPr>
          <a:xfrm>
            <a:off x="205740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2" name="Diagram Dot"/>
          <p:cNvSpPr/>
          <p:nvPr/>
        </p:nvSpPr>
        <p:spPr>
          <a:xfrm>
            <a:off x="256032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3" name="Diagram Dot"/>
          <p:cNvSpPr/>
          <p:nvPr/>
        </p:nvSpPr>
        <p:spPr>
          <a:xfrm>
            <a:off x="306324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4" name="Diagram Dot"/>
          <p:cNvSpPr/>
          <p:nvPr/>
        </p:nvSpPr>
        <p:spPr>
          <a:xfrm>
            <a:off x="356616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5" name="Diagram Dot"/>
          <p:cNvSpPr/>
          <p:nvPr/>
        </p:nvSpPr>
        <p:spPr>
          <a:xfrm>
            <a:off x="406908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6" name="Diagram Dot"/>
          <p:cNvSpPr/>
          <p:nvPr/>
        </p:nvSpPr>
        <p:spPr>
          <a:xfrm>
            <a:off x="457200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7" name="Diagram Dot"/>
          <p:cNvSpPr/>
          <p:nvPr/>
        </p:nvSpPr>
        <p:spPr>
          <a:xfrm>
            <a:off x="5074920" y="3154680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8" name="Pixel Ray"/>
          <p:cNvSpPr/>
          <p:nvPr/>
        </p:nvSpPr>
        <p:spPr>
          <a:xfrm>
            <a:off x="822960" y="3456432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69" name="Diagram Dot"/>
          <p:cNvSpPr/>
          <p:nvPr/>
        </p:nvSpPr>
        <p:spPr>
          <a:xfrm>
            <a:off x="105156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0" name="Diagram Dot"/>
          <p:cNvSpPr/>
          <p:nvPr/>
        </p:nvSpPr>
        <p:spPr>
          <a:xfrm>
            <a:off x="155448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1" name="Diagram Dot"/>
          <p:cNvSpPr/>
          <p:nvPr/>
        </p:nvSpPr>
        <p:spPr>
          <a:xfrm>
            <a:off x="205740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2" name="Diagram Dot"/>
          <p:cNvSpPr/>
          <p:nvPr/>
        </p:nvSpPr>
        <p:spPr>
          <a:xfrm>
            <a:off x="256032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3" name="Diagram Dot"/>
          <p:cNvSpPr/>
          <p:nvPr/>
        </p:nvSpPr>
        <p:spPr>
          <a:xfrm>
            <a:off x="306324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4" name="Diagram Dot"/>
          <p:cNvSpPr/>
          <p:nvPr/>
        </p:nvSpPr>
        <p:spPr>
          <a:xfrm>
            <a:off x="356616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5" name="Diagram Dot"/>
          <p:cNvSpPr/>
          <p:nvPr/>
        </p:nvSpPr>
        <p:spPr>
          <a:xfrm>
            <a:off x="406908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6" name="Diagram Dot"/>
          <p:cNvSpPr/>
          <p:nvPr/>
        </p:nvSpPr>
        <p:spPr>
          <a:xfrm>
            <a:off x="457200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7" name="Diagram Dot"/>
          <p:cNvSpPr/>
          <p:nvPr/>
        </p:nvSpPr>
        <p:spPr>
          <a:xfrm>
            <a:off x="5074920" y="3410712"/>
            <a:ext cx="91440" cy="914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8" name="Diagram Label"/>
          <p:cNvSpPr txBox="1"/>
          <p:nvPr/>
        </p:nvSpPr>
        <p:spPr>
          <a:xfrm>
            <a:off x="6263640" y="12344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IGN 지터</a:t>
            </a:r>
            <a:endParaRPr lang="en-US" sz="1600" dirty="0"/>
          </a:p>
        </p:txBody>
      </p:sp>
      <p:sp>
        <p:nvSpPr>
          <p:cNvPr id="79" name="Cloud"/>
          <p:cNvSpPr/>
          <p:nvPr/>
        </p:nvSpPr>
        <p:spPr>
          <a:xfrm>
            <a:off x="8092440" y="1737360"/>
            <a:ext cx="2926080" cy="192024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0" name="Cloud"/>
          <p:cNvSpPr/>
          <p:nvPr/>
        </p:nvSpPr>
        <p:spPr>
          <a:xfrm>
            <a:off x="7741310" y="2207819"/>
            <a:ext cx="1755648" cy="1440180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1" name="Cloud"/>
          <p:cNvSpPr/>
          <p:nvPr/>
        </p:nvSpPr>
        <p:spPr>
          <a:xfrm>
            <a:off x="9584741" y="2121408"/>
            <a:ext cx="1814170" cy="1536192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2" name="Cloud"/>
          <p:cNvSpPr/>
          <p:nvPr/>
        </p:nvSpPr>
        <p:spPr>
          <a:xfrm>
            <a:off x="8823960" y="1545336"/>
            <a:ext cx="1755648" cy="1344168"/>
          </a:xfrm>
          <a:prstGeom prst="ellipse">
            <a:avLst/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83" name="Pixel Ray"/>
          <p:cNvSpPr/>
          <p:nvPr/>
        </p:nvSpPr>
        <p:spPr>
          <a:xfrm>
            <a:off x="6537960" y="1920240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4" name="Diagram Dot"/>
          <p:cNvSpPr/>
          <p:nvPr/>
        </p:nvSpPr>
        <p:spPr>
          <a:xfrm>
            <a:off x="725761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5" name="Diagram Dot"/>
          <p:cNvSpPr/>
          <p:nvPr/>
        </p:nvSpPr>
        <p:spPr>
          <a:xfrm>
            <a:off x="776053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6" name="Diagram Dot"/>
          <p:cNvSpPr/>
          <p:nvPr/>
        </p:nvSpPr>
        <p:spPr>
          <a:xfrm>
            <a:off x="826345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7" name="Diagram Dot"/>
          <p:cNvSpPr/>
          <p:nvPr/>
        </p:nvSpPr>
        <p:spPr>
          <a:xfrm>
            <a:off x="876637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8" name="Diagram Dot"/>
          <p:cNvSpPr/>
          <p:nvPr/>
        </p:nvSpPr>
        <p:spPr>
          <a:xfrm>
            <a:off x="926929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9" name="Diagram Dot"/>
          <p:cNvSpPr/>
          <p:nvPr/>
        </p:nvSpPr>
        <p:spPr>
          <a:xfrm>
            <a:off x="977221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0" name="Diagram Dot"/>
          <p:cNvSpPr/>
          <p:nvPr/>
        </p:nvSpPr>
        <p:spPr>
          <a:xfrm>
            <a:off x="1027513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1" name="Diagram Dot"/>
          <p:cNvSpPr/>
          <p:nvPr/>
        </p:nvSpPr>
        <p:spPr>
          <a:xfrm>
            <a:off x="1077805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2" name="Diagram Dot"/>
          <p:cNvSpPr/>
          <p:nvPr/>
        </p:nvSpPr>
        <p:spPr>
          <a:xfrm>
            <a:off x="11280976" y="187452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3" name="Pixel Ray"/>
          <p:cNvSpPr/>
          <p:nvPr/>
        </p:nvSpPr>
        <p:spPr>
          <a:xfrm>
            <a:off x="6537960" y="2176272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4" name="Diagram Dot"/>
          <p:cNvSpPr/>
          <p:nvPr/>
        </p:nvSpPr>
        <p:spPr>
          <a:xfrm>
            <a:off x="716598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5" name="Diagram Dot"/>
          <p:cNvSpPr/>
          <p:nvPr/>
        </p:nvSpPr>
        <p:spPr>
          <a:xfrm>
            <a:off x="766890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6" name="Diagram Dot"/>
          <p:cNvSpPr/>
          <p:nvPr/>
        </p:nvSpPr>
        <p:spPr>
          <a:xfrm>
            <a:off x="817182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7" name="Diagram Dot"/>
          <p:cNvSpPr/>
          <p:nvPr/>
        </p:nvSpPr>
        <p:spPr>
          <a:xfrm>
            <a:off x="867474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8" name="Diagram Dot"/>
          <p:cNvSpPr/>
          <p:nvPr/>
        </p:nvSpPr>
        <p:spPr>
          <a:xfrm>
            <a:off x="917766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9" name="Diagram Dot"/>
          <p:cNvSpPr/>
          <p:nvPr/>
        </p:nvSpPr>
        <p:spPr>
          <a:xfrm>
            <a:off x="968058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0" name="Diagram Dot"/>
          <p:cNvSpPr/>
          <p:nvPr/>
        </p:nvSpPr>
        <p:spPr>
          <a:xfrm>
            <a:off x="1018350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1" name="Diagram Dot"/>
          <p:cNvSpPr/>
          <p:nvPr/>
        </p:nvSpPr>
        <p:spPr>
          <a:xfrm>
            <a:off x="1068642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2" name="Diagram Dot"/>
          <p:cNvSpPr/>
          <p:nvPr/>
        </p:nvSpPr>
        <p:spPr>
          <a:xfrm>
            <a:off x="11189344" y="213055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3" name="Pixel Ray"/>
          <p:cNvSpPr/>
          <p:nvPr/>
        </p:nvSpPr>
        <p:spPr>
          <a:xfrm>
            <a:off x="6537960" y="2432304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4" name="Diagram Dot"/>
          <p:cNvSpPr/>
          <p:nvPr/>
        </p:nvSpPr>
        <p:spPr>
          <a:xfrm>
            <a:off x="708294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5" name="Diagram Dot"/>
          <p:cNvSpPr/>
          <p:nvPr/>
        </p:nvSpPr>
        <p:spPr>
          <a:xfrm>
            <a:off x="758586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6" name="Diagram Dot"/>
          <p:cNvSpPr/>
          <p:nvPr/>
        </p:nvSpPr>
        <p:spPr>
          <a:xfrm>
            <a:off x="808878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7" name="Diagram Dot"/>
          <p:cNvSpPr/>
          <p:nvPr/>
        </p:nvSpPr>
        <p:spPr>
          <a:xfrm>
            <a:off x="859170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8" name="Diagram Dot"/>
          <p:cNvSpPr/>
          <p:nvPr/>
        </p:nvSpPr>
        <p:spPr>
          <a:xfrm>
            <a:off x="909462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9" name="Diagram Dot"/>
          <p:cNvSpPr/>
          <p:nvPr/>
        </p:nvSpPr>
        <p:spPr>
          <a:xfrm>
            <a:off x="959754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0" name="Diagram Dot"/>
          <p:cNvSpPr/>
          <p:nvPr/>
        </p:nvSpPr>
        <p:spPr>
          <a:xfrm>
            <a:off x="1010046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1" name="Diagram Dot"/>
          <p:cNvSpPr/>
          <p:nvPr/>
        </p:nvSpPr>
        <p:spPr>
          <a:xfrm>
            <a:off x="1060338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2" name="Diagram Dot"/>
          <p:cNvSpPr/>
          <p:nvPr/>
        </p:nvSpPr>
        <p:spPr>
          <a:xfrm>
            <a:off x="11106303" y="2386584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3" name="Pixel Ray"/>
          <p:cNvSpPr/>
          <p:nvPr/>
        </p:nvSpPr>
        <p:spPr>
          <a:xfrm>
            <a:off x="6537960" y="2688336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4" name="Diagram Dot"/>
          <p:cNvSpPr/>
          <p:nvPr/>
        </p:nvSpPr>
        <p:spPr>
          <a:xfrm>
            <a:off x="699131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5" name="Diagram Dot"/>
          <p:cNvSpPr/>
          <p:nvPr/>
        </p:nvSpPr>
        <p:spPr>
          <a:xfrm>
            <a:off x="749423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6" name="Diagram Dot"/>
          <p:cNvSpPr/>
          <p:nvPr/>
        </p:nvSpPr>
        <p:spPr>
          <a:xfrm>
            <a:off x="799715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7" name="Diagram Dot"/>
          <p:cNvSpPr/>
          <p:nvPr/>
        </p:nvSpPr>
        <p:spPr>
          <a:xfrm>
            <a:off x="850007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8" name="Diagram Dot"/>
          <p:cNvSpPr/>
          <p:nvPr/>
        </p:nvSpPr>
        <p:spPr>
          <a:xfrm>
            <a:off x="900299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9" name="Diagram Dot"/>
          <p:cNvSpPr/>
          <p:nvPr/>
        </p:nvSpPr>
        <p:spPr>
          <a:xfrm>
            <a:off x="950591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0" name="Diagram Dot"/>
          <p:cNvSpPr/>
          <p:nvPr/>
        </p:nvSpPr>
        <p:spPr>
          <a:xfrm>
            <a:off x="1000883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1" name="Diagram Dot"/>
          <p:cNvSpPr/>
          <p:nvPr/>
        </p:nvSpPr>
        <p:spPr>
          <a:xfrm>
            <a:off x="1051175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2" name="Diagram Dot"/>
          <p:cNvSpPr/>
          <p:nvPr/>
        </p:nvSpPr>
        <p:spPr>
          <a:xfrm>
            <a:off x="11014672" y="2642616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3" name="Pixel Ray"/>
          <p:cNvSpPr/>
          <p:nvPr/>
        </p:nvSpPr>
        <p:spPr>
          <a:xfrm>
            <a:off x="6537960" y="2944368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4" name="Diagram Dot"/>
          <p:cNvSpPr/>
          <p:nvPr/>
        </p:nvSpPr>
        <p:spPr>
          <a:xfrm>
            <a:off x="690827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5" name="Diagram Dot"/>
          <p:cNvSpPr/>
          <p:nvPr/>
        </p:nvSpPr>
        <p:spPr>
          <a:xfrm>
            <a:off x="741119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6" name="Diagram Dot"/>
          <p:cNvSpPr/>
          <p:nvPr/>
        </p:nvSpPr>
        <p:spPr>
          <a:xfrm>
            <a:off x="791411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7" name="Diagram Dot"/>
          <p:cNvSpPr/>
          <p:nvPr/>
        </p:nvSpPr>
        <p:spPr>
          <a:xfrm>
            <a:off x="841703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8" name="Diagram Dot"/>
          <p:cNvSpPr/>
          <p:nvPr/>
        </p:nvSpPr>
        <p:spPr>
          <a:xfrm>
            <a:off x="891995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9" name="Diagram Dot"/>
          <p:cNvSpPr/>
          <p:nvPr/>
        </p:nvSpPr>
        <p:spPr>
          <a:xfrm>
            <a:off x="942287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0" name="Diagram Dot"/>
          <p:cNvSpPr/>
          <p:nvPr/>
        </p:nvSpPr>
        <p:spPr>
          <a:xfrm>
            <a:off x="992579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1" name="Diagram Dot"/>
          <p:cNvSpPr/>
          <p:nvPr/>
        </p:nvSpPr>
        <p:spPr>
          <a:xfrm>
            <a:off x="1042871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2" name="Diagram Dot"/>
          <p:cNvSpPr/>
          <p:nvPr/>
        </p:nvSpPr>
        <p:spPr>
          <a:xfrm>
            <a:off x="10931631" y="2898648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3" name="Pixel Ray"/>
          <p:cNvSpPr/>
          <p:nvPr/>
        </p:nvSpPr>
        <p:spPr>
          <a:xfrm>
            <a:off x="6537960" y="3200400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4" name="Diagram Dot"/>
          <p:cNvSpPr/>
          <p:nvPr/>
        </p:nvSpPr>
        <p:spPr>
          <a:xfrm>
            <a:off x="681664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5" name="Diagram Dot"/>
          <p:cNvSpPr/>
          <p:nvPr/>
        </p:nvSpPr>
        <p:spPr>
          <a:xfrm>
            <a:off x="731956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6" name="Diagram Dot"/>
          <p:cNvSpPr/>
          <p:nvPr/>
        </p:nvSpPr>
        <p:spPr>
          <a:xfrm>
            <a:off x="782248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7" name="Diagram Dot"/>
          <p:cNvSpPr/>
          <p:nvPr/>
        </p:nvSpPr>
        <p:spPr>
          <a:xfrm>
            <a:off x="832540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8" name="Diagram Dot"/>
          <p:cNvSpPr/>
          <p:nvPr/>
        </p:nvSpPr>
        <p:spPr>
          <a:xfrm>
            <a:off x="882832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9" name="Diagram Dot"/>
          <p:cNvSpPr/>
          <p:nvPr/>
        </p:nvSpPr>
        <p:spPr>
          <a:xfrm>
            <a:off x="933124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0" name="Diagram Dot"/>
          <p:cNvSpPr/>
          <p:nvPr/>
        </p:nvSpPr>
        <p:spPr>
          <a:xfrm>
            <a:off x="983416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1" name="Diagram Dot"/>
          <p:cNvSpPr/>
          <p:nvPr/>
        </p:nvSpPr>
        <p:spPr>
          <a:xfrm>
            <a:off x="1033708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2" name="Diagram Dot"/>
          <p:cNvSpPr/>
          <p:nvPr/>
        </p:nvSpPr>
        <p:spPr>
          <a:xfrm>
            <a:off x="10840000" y="315468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3" name="Pixel Ray"/>
          <p:cNvSpPr/>
          <p:nvPr/>
        </p:nvSpPr>
        <p:spPr>
          <a:xfrm>
            <a:off x="6537960" y="3456432"/>
            <a:ext cx="4846320" cy="914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4" name="Diagram Dot"/>
          <p:cNvSpPr/>
          <p:nvPr/>
        </p:nvSpPr>
        <p:spPr>
          <a:xfrm>
            <a:off x="723651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5" name="Diagram Dot"/>
          <p:cNvSpPr/>
          <p:nvPr/>
        </p:nvSpPr>
        <p:spPr>
          <a:xfrm>
            <a:off x="773943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6" name="Diagram Dot"/>
          <p:cNvSpPr/>
          <p:nvPr/>
        </p:nvSpPr>
        <p:spPr>
          <a:xfrm>
            <a:off x="824235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7" name="Diagram Dot"/>
          <p:cNvSpPr/>
          <p:nvPr/>
        </p:nvSpPr>
        <p:spPr>
          <a:xfrm>
            <a:off x="874527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8" name="Diagram Dot"/>
          <p:cNvSpPr/>
          <p:nvPr/>
        </p:nvSpPr>
        <p:spPr>
          <a:xfrm>
            <a:off x="924819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9" name="Diagram Dot"/>
          <p:cNvSpPr/>
          <p:nvPr/>
        </p:nvSpPr>
        <p:spPr>
          <a:xfrm>
            <a:off x="975111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0" name="Diagram Dot"/>
          <p:cNvSpPr/>
          <p:nvPr/>
        </p:nvSpPr>
        <p:spPr>
          <a:xfrm>
            <a:off x="1025403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1" name="Diagram Dot"/>
          <p:cNvSpPr/>
          <p:nvPr/>
        </p:nvSpPr>
        <p:spPr>
          <a:xfrm>
            <a:off x="1075695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2" name="Diagram Dot"/>
          <p:cNvSpPr/>
          <p:nvPr/>
        </p:nvSpPr>
        <p:spPr>
          <a:xfrm>
            <a:off x="11259879" y="341071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3" name="Diagram Label"/>
          <p:cNvSpPr txBox="1"/>
          <p:nvPr/>
        </p:nvSpPr>
        <p:spPr>
          <a:xfrm>
            <a:off x="54864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모든 픽셀이 같은 깊이에서 샘플 → 등고선 같은 줄무늬</a:t>
            </a:r>
            <a:endParaRPr lang="en-US" sz="1300" dirty="0"/>
          </a:p>
        </p:txBody>
      </p:sp>
      <p:sp>
        <p:nvSpPr>
          <p:cNvPr id="154" name="Diagram Label"/>
          <p:cNvSpPr txBox="1"/>
          <p:nvPr/>
        </p:nvSpPr>
        <p:spPr>
          <a:xfrm>
            <a:off x="626364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픽셀마다 시작점 이동 → 고주파 노이즈 → TAA가 평균</a:t>
            </a:r>
            <a:endParaRPr lang="en-US" sz="13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노이즈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특징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White noise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완전 무작위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뭉침·빈틈, TAA 수렴 느림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Bayer 행렬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규칙적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격자 패턴이 보임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IGN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3×3 이웃 안에서 값이 고르게 퍼짐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계산 한 줄, 텍스처 불필요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6" name="TODO Image Placeholder"/>
          <p:cNvSpPr/>
          <p:nvPr/>
        </p:nvSpPr>
        <p:spPr>
          <a:xfrm>
            <a:off x="7406640" y="4343400"/>
            <a:ext cx="4233672" cy="178308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57" name="TODO Image Label"/>
          <p:cNvSpPr txBox="1"/>
          <p:nvPr/>
        </p:nvSpPr>
        <p:spPr>
          <a:xfrm>
            <a:off x="7589520" y="4343400"/>
            <a:ext cx="386791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지터 없음 / IGN / IGN + TAA 캡처</a:t>
            </a:r>
            <a:endParaRPr lang="en-US" sz="1300" dirty="0"/>
          </a:p>
        </p:txBody>
      </p:sp>
      <p:sp>
        <p:nvSpPr>
          <p:cNvPr id="158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Jimenez 2014, CoD: Advanced Warfare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조명 모델</a:t>
            </a:r>
            <a:endParaRPr lang="en-US" sz="3000" dirty="0"/>
          </a:p>
        </p:txBody>
      </p:sp>
      <p:sp>
        <p:nvSpPr>
          <p:cNvPr id="3" name="Camera Body"/>
          <p:cNvSpPr/>
          <p:nvPr/>
        </p:nvSpPr>
        <p:spPr>
          <a:xfrm>
            <a:off x="594360" y="4050792"/>
            <a:ext cx="365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amera Lens"/>
          <p:cNvSpPr/>
          <p:nvPr/>
        </p:nvSpPr>
        <p:spPr>
          <a:xfrm rot="5400000">
            <a:off x="914400" y="4078224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iagram Label"/>
          <p:cNvSpPr txBox="1"/>
          <p:nvPr/>
        </p:nvSpPr>
        <p:spPr>
          <a:xfrm>
            <a:off x="36576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카메라</a:t>
            </a:r>
            <a:endParaRPr lang="en-US" sz="1100" dirty="0"/>
          </a:p>
        </p:txBody>
      </p:sp>
      <p:sp>
        <p:nvSpPr>
          <p:cNvPr id="6" name="Cloud"/>
          <p:cNvSpPr/>
          <p:nvPr/>
        </p:nvSpPr>
        <p:spPr>
          <a:xfrm>
            <a:off x="2377440" y="2743200"/>
            <a:ext cx="3291840" cy="20116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7" name="Cloud"/>
          <p:cNvSpPr/>
          <p:nvPr/>
        </p:nvSpPr>
        <p:spPr>
          <a:xfrm>
            <a:off x="1982419" y="3236062"/>
            <a:ext cx="1975104" cy="150876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8" name="Cloud"/>
          <p:cNvSpPr/>
          <p:nvPr/>
        </p:nvSpPr>
        <p:spPr>
          <a:xfrm>
            <a:off x="4056278" y="3145536"/>
            <a:ext cx="2040941" cy="1609344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9" name="Cloud"/>
          <p:cNvSpPr/>
          <p:nvPr/>
        </p:nvSpPr>
        <p:spPr>
          <a:xfrm>
            <a:off x="3200400" y="2542032"/>
            <a:ext cx="1975104" cy="1408176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0" name="View Ray"/>
          <p:cNvSpPr/>
          <p:nvPr/>
        </p:nvSpPr>
        <p:spPr>
          <a:xfrm>
            <a:off x="1188720" y="4206240"/>
            <a:ext cx="5212080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11" name="Diagram Dot"/>
          <p:cNvSpPr/>
          <p:nvPr/>
        </p:nvSpPr>
        <p:spPr>
          <a:xfrm>
            <a:off x="3483864" y="4123944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Diagram Label"/>
          <p:cNvSpPr txBox="1"/>
          <p:nvPr/>
        </p:nvSpPr>
        <p:spPr>
          <a:xfrm>
            <a:off x="32918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P</a:t>
            </a:r>
            <a:endParaRPr lang="en-US" sz="1200" dirty="0"/>
          </a:p>
        </p:txBody>
      </p:sp>
      <p:sp>
        <p:nvSpPr>
          <p:cNvPr id="13" name="Sun"/>
          <p:cNvSpPr/>
          <p:nvPr/>
        </p:nvSpPr>
        <p:spPr>
          <a:xfrm>
            <a:off x="6473952" y="1170432"/>
            <a:ext cx="585216" cy="5852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Diagram Label"/>
          <p:cNvSpPr txBox="1"/>
          <p:nvPr/>
        </p:nvSpPr>
        <p:spPr>
          <a:xfrm>
            <a:off x="6309360" y="1773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15" name="Light Ray"/>
          <p:cNvSpPr/>
          <p:nvPr/>
        </p:nvSpPr>
        <p:spPr>
          <a:xfrm flipV="1">
            <a:off x="3566160" y="1734659"/>
            <a:ext cx="2912934" cy="2471581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dash"/>
          </a:ln>
        </p:spPr>
      </p:sp>
      <p:sp>
        <p:nvSpPr>
          <p:cNvPr id="16" name="Diagram Dot"/>
          <p:cNvSpPr/>
          <p:nvPr/>
        </p:nvSpPr>
        <p:spPr>
          <a:xfrm>
            <a:off x="3604109" y="4089528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Diagram Dot"/>
          <p:cNvSpPr/>
          <p:nvPr/>
        </p:nvSpPr>
        <p:spPr>
          <a:xfrm>
            <a:off x="3729612" y="3983041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Diagram Dot"/>
          <p:cNvSpPr/>
          <p:nvPr/>
        </p:nvSpPr>
        <p:spPr>
          <a:xfrm>
            <a:off x="3938783" y="380556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Diagram Dot"/>
          <p:cNvSpPr/>
          <p:nvPr/>
        </p:nvSpPr>
        <p:spPr>
          <a:xfrm>
            <a:off x="4315292" y="3486100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Diagram Dot"/>
          <p:cNvSpPr/>
          <p:nvPr/>
        </p:nvSpPr>
        <p:spPr>
          <a:xfrm>
            <a:off x="5026475" y="2882672"/>
            <a:ext cx="91440" cy="91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Diagram Label"/>
          <p:cNvSpPr txBox="1"/>
          <p:nvPr/>
        </p:nvSpPr>
        <p:spPr>
          <a:xfrm>
            <a:off x="5212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태양 방향 6스텝 (간격 2배씩)</a:t>
            </a:r>
            <a:endParaRPr lang="en-US" sz="1200" dirty="0"/>
          </a:p>
        </p:txBody>
      </p:sp>
      <p:sp>
        <p:nvSpPr>
          <p:cNvPr id="22" name="Sky Light"/>
          <p:cNvSpPr/>
          <p:nvPr/>
        </p:nvSpPr>
        <p:spPr>
          <a:xfrm>
            <a:off x="2651760" y="1417320"/>
            <a:ext cx="914" cy="109728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ky Light"/>
          <p:cNvSpPr/>
          <p:nvPr/>
        </p:nvSpPr>
        <p:spPr>
          <a:xfrm>
            <a:off x="3657600" y="1417320"/>
            <a:ext cx="914" cy="109728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Sky Light"/>
          <p:cNvSpPr/>
          <p:nvPr/>
        </p:nvSpPr>
        <p:spPr>
          <a:xfrm>
            <a:off x="4663440" y="1417320"/>
            <a:ext cx="914" cy="1097280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Diagram Label"/>
          <p:cNvSpPr txBox="1"/>
          <p:nvPr/>
        </p:nvSpPr>
        <p:spPr>
          <a:xfrm>
            <a:off x="2194560" y="1097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하늘 환경광 (Sky View)</a:t>
            </a:r>
            <a:endParaRPr lang="en-US" sz="1200" dirty="0"/>
          </a:p>
        </p:txBody>
      </p:sp>
      <p:sp>
        <p:nvSpPr>
          <p:cNvPr id="26" name="Diagram Label"/>
          <p:cNvSpPr txBox="1"/>
          <p:nvPr/>
        </p:nvSpPr>
        <p:spPr>
          <a:xfrm>
            <a:off x="1188720" y="4343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 (구름 깊이에서 대기 원근)</a:t>
            </a:r>
            <a:endParaRPr lang="en-US" sz="1200" dirty="0"/>
          </a:p>
        </p:txBody>
      </p:sp>
      <p:sp>
        <p:nvSpPr>
          <p:cNvPr id="27" name="Formula Box"/>
          <p:cNvSpPr/>
          <p:nvPr/>
        </p:nvSpPr>
        <p:spPr>
          <a:xfrm>
            <a:off x="548640" y="5303520"/>
            <a:ext cx="6766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8" name="Formula light" descr="L_{step} = E_{sun}\, T_{atm}\, S(\tau_{light}) + L_{sky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642" y="5575737"/>
            <a:ext cx="4354556" cy="324246"/>
          </a:xfrm>
          <a:prstGeom prst="rect">
            <a:avLst/>
          </a:prstGeom>
        </p:spPr>
      </p:pic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59352" cy="914400"/>
        </p:xfrm>
        <a:graphic>
          <a:graphicData uri="http://schemas.openxmlformats.org/drawingml/2006/table">
            <a:tbl>
              <a:tblPr/>
              <a:tblGrid>
                <a:gridCol w="2587752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항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출처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태양 투과율 (대기 LUT + 행성 그림자)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Hillaire 2020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자기 그림자 (빛 마칭)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Nubis 2017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이중 HG 위상 함수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Hillaire 2016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다중 산란 (Octave)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Wrenninge 2013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구름의 AP (가중 평균 깊이)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Nubis Evolved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Diagram Label"/>
          <p:cNvSpPr txBox="1"/>
          <p:nvPr/>
        </p:nvSpPr>
        <p:spPr>
          <a:xfrm>
            <a:off x="7680960" y="4572000"/>
            <a:ext cx="3959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구름 색이 대기 LUT에서 오므로 시간대가 바뀌면 자동으로 노을 색</a:t>
            </a:r>
            <a:endParaRPr lang="en-US" sz="1300" dirty="0"/>
          </a:p>
        </p:txBody>
      </p:sp>
      <p:sp>
        <p:nvSpPr>
          <p:cNvPr id="31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 2017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Nubis Evolved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에너지 보존 적분</a:t>
            </a:r>
            <a:endParaRPr lang="en-US" sz="3000" dirty="0"/>
          </a:p>
        </p:txBody>
      </p:sp>
      <p:graphicFrame>
        <p:nvGraphicFramePr>
          <p:cNvPr id="3" name="Energy Chart" descr=""/>
          <p:cNvGraphicFramePr/>
          <p:nvPr/>
        </p:nvGraphicFramePr>
        <p:xfrm>
          <a:off x="5852160" y="1234440"/>
          <a:ext cx="5788152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ody Text"/>
          <p:cNvSpPr txBox="1"/>
          <p:nvPr/>
        </p:nvSpPr>
        <p:spPr>
          <a:xfrm>
            <a:off x="548640" y="128016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단순 합은 스텝이 크면 100%를 넘게 산란 → 너무 밝아짐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스텝 안에서 빛이 일정하다고 보고 정확히 적분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스텝 크기와 상관없이 밝기 유지 → 거리별 적응 스텝과 함께 쓸 수 있음</a:t>
            </a:r>
            <a:endParaRPr lang="en-US" sz="1500" dirty="0"/>
          </a:p>
        </p:txBody>
      </p:sp>
      <p:sp>
        <p:nvSpPr>
          <p:cNvPr id="5" name="Formula Box"/>
          <p:cNvSpPr/>
          <p:nvPr/>
        </p:nvSpPr>
        <p:spPr>
          <a:xfrm>
            <a:off x="548640" y="4297680"/>
            <a:ext cx="50292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Formula energy" descr="\Delta L = L\,\left(1 - e^{-\sigma \Delta t}\right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69" y="4521479"/>
            <a:ext cx="2831943" cy="558241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2015, Frostbite 볼륨 렌더링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위상 함수: 이중 Henyey-Greenstein</a:t>
            </a:r>
            <a:endParaRPr lang="en-US" sz="3000" dirty="0"/>
          </a:p>
        </p:txBody>
      </p:sp>
      <p:graphicFrame>
        <p:nvGraphicFramePr>
          <p:cNvPr id="3" name="HG Phase Chart" descr=""/>
          <p:cNvGraphicFramePr/>
          <p:nvPr/>
        </p:nvGraphicFramePr>
        <p:xfrm>
          <a:off x="5852160" y="1234440"/>
          <a:ext cx="5788152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ody Text"/>
          <p:cNvSpPr txBox="1"/>
          <p:nvPr/>
        </p:nvSpPr>
        <p:spPr>
          <a:xfrm>
            <a:off x="548640" y="12801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빛이 어느 방향으로 산란되는지 나타내는 함수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구름은 강한 전방 산란 + 약한 후방 → HG 두 개를 섞어 근사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태양 쪽을 보면 밝은 은색 테두리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태양을 등지면 값이 매우 작음 → 다음 장의 어두운 구름 원인</a:t>
            </a:r>
            <a:endParaRPr lang="en-US" sz="1500" dirty="0"/>
          </a:p>
        </p:txBody>
      </p:sp>
      <p:sp>
        <p:nvSpPr>
          <p:cNvPr id="5" name="Formula Box"/>
          <p:cNvSpPr/>
          <p:nvPr/>
        </p:nvSpPr>
        <p:spPr>
          <a:xfrm>
            <a:off x="548640" y="4434840"/>
            <a:ext cx="502920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Formula hg" descr="p(\theta, g) = \frac{1 - g^2}{4\pi\,(1 + g^2 - 2g\cos\theta)^{3/2}}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60" y="4680928"/>
            <a:ext cx="4524360" cy="787984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어두운 구름 문제</a:t>
            </a:r>
            <a:endParaRPr lang="en-US" sz="3000" dirty="0"/>
          </a:p>
        </p:txBody>
      </p:sp>
      <p:sp>
        <p:nvSpPr>
          <p:cNvPr id="3" name="Diagram Label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증상: 태양 정반대에서 보면 흰데, 각도가 조금만 틀어지면 회색</a:t>
            </a:r>
            <a:endParaRPr lang="en-US" sz="1500" dirty="0"/>
          </a:p>
        </p:txBody>
      </p:sp>
      <p:graphicFrame>
        <p:nvGraphicFramePr>
          <p:cNvPr id="1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설명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단일 산란만 사용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두꺼운 구름 내부까지 빛이 들어가지 못해 검게 보임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후방 위상 값이 작음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태양을 등지면 산란량이 흰 확산면의 1/4 수준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olution Box"/>
          <p:cNvSpPr/>
          <p:nvPr/>
        </p:nvSpPr>
        <p:spPr>
          <a:xfrm>
            <a:off x="548640" y="315468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olution"/>
          <p:cNvSpPr txBox="1"/>
          <p:nvPr/>
        </p:nvSpPr>
        <p:spPr>
          <a:xfrm>
            <a:off x="914400" y="31546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해결: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다중 산란 Octave 근사 적용 → 내부까지 빛이 들어가고, 방향성이 약한 고차 산란이 후방도 밝힘</a:t>
            </a:r>
            <a:endParaRPr lang="en-US" sz="1700" dirty="0"/>
          </a:p>
        </p:txBody>
      </p:sp>
      <p:sp>
        <p:nvSpPr>
          <p:cNvPr id="7" name="Rejected Box"/>
          <p:cNvSpPr/>
          <p:nvPr/>
        </p:nvSpPr>
        <p:spPr>
          <a:xfrm>
            <a:off x="548640" y="4526280"/>
            <a:ext cx="11094415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ody Text"/>
          <p:cNvSpPr txBox="1"/>
          <p:nvPr/>
        </p:nvSpPr>
        <p:spPr>
          <a:xfrm>
            <a:off x="822960" y="466344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검토 후 버린 안: 대기처럼 다중 산란 LUT를 구름에 쓰기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대기 LUT는 균질한 층을 가정 → 구름은 위치마다 밀도가 달라 LUT 하나로 안 됨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구름은 흡수가 거의 없어 급수가 발산, 강한 전방 산란이라 등방성 가정도 불성립</a:t>
            </a:r>
            <a:endParaRPr lang="en-US" sz="1400" dirty="0"/>
          </a:p>
        </p:txBody>
      </p:sp>
      <p:sp>
        <p:nvSpPr>
          <p:cNvPr id="9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2020, 5.5절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Schneider 2023, Nubis³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해결: 다중 산란 Octave 근사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단일 산란만 쓰면 두꺼운 구름 내부가 검게 나옴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실제 구름은 빛을 거의 흡수하지 않아 수십 번 튐</a:t>
            </a:r>
            <a:endParaRPr lang="en-US" sz="1500" dirty="0"/>
          </a:p>
        </p:txBody>
      </p:sp>
      <p:sp>
        <p:nvSpPr>
          <p:cNvPr id="4" name="Formula Box"/>
          <p:cNvSpPr/>
          <p:nvPr/>
        </p:nvSpPr>
        <p:spPr>
          <a:xfrm>
            <a:off x="548640" y="2240280"/>
            <a:ext cx="5120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Formula octave" descr="S = \sum_{i} b^i\, e^{-a^i \tau}\, p(\theta,\ c^i 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0541" y="2425903"/>
            <a:ext cx="3236839" cy="680314"/>
          </a:xfrm>
          <a:prstGeom prst="rect">
            <a:avLst/>
          </a:prstGeom>
        </p:spPr>
      </p:pic>
      <p:sp>
        <p:nvSpPr>
          <p:cNvPr id="6" name="Card"/>
          <p:cNvSpPr/>
          <p:nvPr/>
        </p:nvSpPr>
        <p:spPr>
          <a:xfrm>
            <a:off x="548640" y="3474720"/>
            <a:ext cx="51206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d Dot"/>
          <p:cNvSpPr/>
          <p:nvPr/>
        </p:nvSpPr>
        <p:spPr>
          <a:xfrm>
            <a:off x="777240" y="374904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Card Title"/>
          <p:cNvSpPr txBox="1"/>
          <p:nvPr/>
        </p:nvSpPr>
        <p:spPr>
          <a:xfrm>
            <a:off x="118872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감쇠 줄이기</a:t>
            </a:r>
            <a:endParaRPr lang="en-US" sz="1500" dirty="0"/>
          </a:p>
        </p:txBody>
      </p:sp>
      <p:sp>
        <p:nvSpPr>
          <p:cNvPr id="9" name="Card Body"/>
          <p:cNvSpPr txBox="1"/>
          <p:nvPr/>
        </p:nvSpPr>
        <p:spPr>
          <a:xfrm>
            <a:off x="30175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여러 번 튄 빛은 사방에서 와서 차폐가 약함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4389120"/>
            <a:ext cx="51206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Dot"/>
          <p:cNvSpPr/>
          <p:nvPr/>
        </p:nvSpPr>
        <p:spPr>
          <a:xfrm>
            <a:off x="777240" y="46634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Card Title"/>
          <p:cNvSpPr txBox="1"/>
          <p:nvPr/>
        </p:nvSpPr>
        <p:spPr>
          <a:xfrm>
            <a:off x="1188720" y="44805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기여 줄이기</a:t>
            </a:r>
            <a:endParaRPr lang="en-US" sz="1500" dirty="0"/>
          </a:p>
        </p:txBody>
      </p:sp>
      <p:sp>
        <p:nvSpPr>
          <p:cNvPr id="13" name="Card Body"/>
          <p:cNvSpPr txBox="1"/>
          <p:nvPr/>
        </p:nvSpPr>
        <p:spPr>
          <a:xfrm>
            <a:off x="3017520" y="4480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차수마다 절반 → 에너지가 무한히 커지지 않음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5303520"/>
            <a:ext cx="512064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ard Dot"/>
          <p:cNvSpPr/>
          <p:nvPr/>
        </p:nvSpPr>
        <p:spPr>
          <a:xfrm>
            <a:off x="777240" y="557784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ard Title"/>
          <p:cNvSpPr txBox="1"/>
          <p:nvPr/>
        </p:nvSpPr>
        <p:spPr>
          <a:xfrm>
            <a:off x="1188720" y="5394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방향성 줄이기</a:t>
            </a:r>
            <a:endParaRPr lang="en-US" sz="1500" dirty="0"/>
          </a:p>
        </p:txBody>
      </p:sp>
      <p:sp>
        <p:nvSpPr>
          <p:cNvPr id="17" name="Card Body"/>
          <p:cNvSpPr txBox="1"/>
          <p:nvPr/>
        </p:nvSpPr>
        <p:spPr>
          <a:xfrm>
            <a:off x="3017520" y="5394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여러 번 튄 빛은 방향 정보를 잃음</a:t>
            </a:r>
            <a:endParaRPr lang="en-US" sz="1300" dirty="0"/>
          </a:p>
        </p:txBody>
      </p:sp>
      <p:graphicFrame>
        <p:nvGraphicFramePr>
          <p:cNvPr id="18" name="Octave Chart" descr=""/>
          <p:cNvGraphicFramePr/>
          <p:nvPr/>
        </p:nvGraphicFramePr>
        <p:xfrm>
          <a:off x="5943600" y="1280160"/>
          <a:ext cx="5696712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ODO Image Placeholder"/>
          <p:cNvSpPr/>
          <p:nvPr/>
        </p:nvSpPr>
        <p:spPr>
          <a:xfrm>
            <a:off x="5943600" y="4709160"/>
            <a:ext cx="5696712" cy="14630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0" name="TODO Image Label"/>
          <p:cNvSpPr txBox="1"/>
          <p:nvPr/>
        </p:nvSpPr>
        <p:spPr>
          <a:xfrm>
            <a:off x="6126480" y="4709160"/>
            <a:ext cx="53309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적용 전 / 후 (태양을 등진 같은 시점)</a:t>
            </a:r>
            <a:endParaRPr lang="en-US" sz="13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Wrenninge et al. 2013, Oz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731520" y="27889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731520" y="2788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265176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구름 그림자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365760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Beer Shadow Map → 지형 그림자 + 대기 빛줄기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구름 그림자: 방식 비교</a:t>
            </a:r>
            <a:endParaRPr lang="en-US" sz="30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468880"/>
                <a:gridCol w="2286000"/>
                <a:gridCol w="237744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방식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저장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장점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단점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판단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투과율 맵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투과율 한 값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가장 단순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구름 위 공기도 그늘짐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✕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Beer Shadow Map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앞면 깊이, 평균 소멸, 최대 광학 깊이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깊이별 투과율, 2D 한 장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구름 안 밀도를 균일로 가정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채택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Cascaded Shadow Map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거리별 여러 장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넓은 범위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장 수만큼 비용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범위 넓힐 때 추가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Exponential Shadow Map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깊이의 지수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불투명 경계 필터링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반투명 매질용이 아님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✕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Quote Box"/>
          <p:cNvSpPr/>
          <p:nvPr/>
        </p:nvSpPr>
        <p:spPr>
          <a:xfrm>
            <a:off x="548640" y="4206240"/>
            <a:ext cx="11094415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Quote"/>
          <p:cNvSpPr txBox="1"/>
          <p:nvPr/>
        </p:nvSpPr>
        <p:spPr>
          <a:xfrm>
            <a:off x="914400" y="420624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BSM은 '무엇을 저장할지', CSM은 '어디까지 덮을지'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경쟁이 아니라 조합. ESM은 불투명 그림자 경계 필터링이라 목적이 다름</a:t>
            </a:r>
            <a:endParaRPr lang="en-US" sz="1700" dirty="0"/>
          </a:p>
        </p:txBody>
      </p:sp>
      <p:sp>
        <p:nvSpPr>
          <p:cNvPr id="6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 (BSM)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ESM: Annen et al. 2008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Beer Shadow Map: 원리</a:t>
            </a:r>
            <a:endParaRPr lang="en-US" sz="3000" dirty="0"/>
          </a:p>
        </p:txBody>
      </p:sp>
      <p:sp>
        <p:nvSpPr>
          <p:cNvPr id="3" name="Sun"/>
          <p:cNvSpPr/>
          <p:nvPr/>
        </p:nvSpPr>
        <p:spPr>
          <a:xfrm>
            <a:off x="2395728" y="12527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iagram Label"/>
          <p:cNvSpPr txBox="1"/>
          <p:nvPr/>
        </p:nvSpPr>
        <p:spPr>
          <a:xfrm>
            <a:off x="2194560" y="1783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5" name="Shadow Ray"/>
          <p:cNvSpPr/>
          <p:nvPr/>
        </p:nvSpPr>
        <p:spPr>
          <a:xfrm>
            <a:off x="2651760" y="1828800"/>
            <a:ext cx="914" cy="3840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Cloud"/>
          <p:cNvSpPr/>
          <p:nvPr/>
        </p:nvSpPr>
        <p:spPr>
          <a:xfrm>
            <a:off x="1783080" y="2971800"/>
            <a:ext cx="1737360" cy="10972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7" name="Cloud"/>
          <p:cNvSpPr/>
          <p:nvPr/>
        </p:nvSpPr>
        <p:spPr>
          <a:xfrm>
            <a:off x="1574597" y="3240634"/>
            <a:ext cx="1042416" cy="82296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8" name="Cloud"/>
          <p:cNvSpPr/>
          <p:nvPr/>
        </p:nvSpPr>
        <p:spPr>
          <a:xfrm>
            <a:off x="2669134" y="3191256"/>
            <a:ext cx="1077163" cy="877824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9" name="Cloud"/>
          <p:cNvSpPr/>
          <p:nvPr/>
        </p:nvSpPr>
        <p:spPr>
          <a:xfrm>
            <a:off x="2217420" y="2862072"/>
            <a:ext cx="1042416" cy="768096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0" name="Front"/>
          <p:cNvSpPr/>
          <p:nvPr/>
        </p:nvSpPr>
        <p:spPr>
          <a:xfrm>
            <a:off x="1554480" y="2926080"/>
            <a:ext cx="228600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1" name="Back"/>
          <p:cNvSpPr/>
          <p:nvPr/>
        </p:nvSpPr>
        <p:spPr>
          <a:xfrm>
            <a:off x="1554480" y="4160520"/>
            <a:ext cx="2286000" cy="914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</p:sp>
      <p:sp>
        <p:nvSpPr>
          <p:cNvPr id="12" name="Diagram Label"/>
          <p:cNvSpPr txBox="1"/>
          <p:nvPr/>
        </p:nvSpPr>
        <p:spPr>
          <a:xfrm>
            <a:off x="3886200" y="2788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앞면</a:t>
            </a:r>
            <a:endParaRPr lang="en-US" sz="1200" dirty="0"/>
          </a:p>
        </p:txBody>
      </p:sp>
      <p:sp>
        <p:nvSpPr>
          <p:cNvPr id="13" name="Diagram Label"/>
          <p:cNvSpPr txBox="1"/>
          <p:nvPr/>
        </p:nvSpPr>
        <p:spPr>
          <a:xfrm>
            <a:off x="388620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뒷면</a:t>
            </a:r>
            <a:endParaRPr lang="en-US" sz="1200" dirty="0"/>
          </a:p>
        </p:txBody>
      </p:sp>
      <p:sp>
        <p:nvSpPr>
          <p:cNvPr id="14" name="Diagram Label"/>
          <p:cNvSpPr txBox="1"/>
          <p:nvPr/>
        </p:nvSpPr>
        <p:spPr>
          <a:xfrm>
            <a:off x="548640" y="2240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 = 1</a:t>
            </a:r>
            <a:endParaRPr lang="en-US" sz="1300" dirty="0"/>
          </a:p>
        </p:txBody>
      </p:sp>
      <p:sp>
        <p:nvSpPr>
          <p:cNvPr id="15" name="Diagram Label"/>
          <p:cNvSpPr txBox="1"/>
          <p:nvPr/>
        </p:nvSpPr>
        <p:spPr>
          <a:xfrm>
            <a:off x="54864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감소</a:t>
            </a:r>
            <a:endParaRPr lang="en-US" sz="1300" dirty="0"/>
          </a:p>
        </p:txBody>
      </p:sp>
      <p:sp>
        <p:nvSpPr>
          <p:cNvPr id="16" name="Diagram Label"/>
          <p:cNvSpPr txBox="1"/>
          <p:nvPr/>
        </p:nvSpPr>
        <p:spPr>
          <a:xfrm>
            <a:off x="548640" y="4800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최소 유지</a:t>
            </a:r>
            <a:endParaRPr lang="en-US" sz="1300" dirty="0"/>
          </a:p>
        </p:txBody>
      </p:sp>
      <p:sp>
        <p:nvSpPr>
          <p:cNvPr id="17" name="Ground"/>
          <p:cNvSpPr/>
          <p:nvPr/>
        </p:nvSpPr>
        <p:spPr>
          <a:xfrm>
            <a:off x="548640" y="5669280"/>
            <a:ext cx="393192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8" name="Body Text"/>
          <p:cNvSpPr txBox="1"/>
          <p:nvPr/>
        </p:nvSpPr>
        <p:spPr>
          <a:xfrm>
            <a:off x="4800600" y="1280160"/>
            <a:ext cx="2788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텍셀마다 태양 방향 레이 1개 → 3개 값 저장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앞면 깊이 · 평균 소멸계수 · 최대 광학 깊이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구름 위 공기는 밝고, 구름 아래는 정확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빈 텍셀은 앞면을 멀리 → 필터링 번짐 방지</a:t>
            </a:r>
            <a:endParaRPr lang="en-US" sz="1300" dirty="0"/>
          </a:p>
        </p:txBody>
      </p:sp>
      <p:graphicFrame>
        <p:nvGraphicFramePr>
          <p:cNvPr id="19" name="BSM Chart" descr=""/>
          <p:cNvGraphicFramePr/>
          <p:nvPr/>
        </p:nvGraphicFramePr>
        <p:xfrm>
          <a:off x="7772400" y="1234440"/>
          <a:ext cx="3867912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Formula Box"/>
          <p:cNvSpPr/>
          <p:nvPr/>
        </p:nvSpPr>
        <p:spPr>
          <a:xfrm>
            <a:off x="4800600" y="4800600"/>
            <a:ext cx="683971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Formula bsm" descr="T(z) = e^{-\min\left((z - d_{front})\,\bar{\sigma},\ OD_{max}\right)}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947" y="5164074"/>
            <a:ext cx="3855019" cy="370332"/>
          </a:xfrm>
          <a:prstGeom prst="rect">
            <a:avLst/>
          </a:prstGeom>
        </p:spPr>
      </p:pic>
      <p:sp>
        <p:nvSpPr>
          <p:cNvPr id="22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Beer Shadow Map: 투영 범위</a:t>
            </a:r>
            <a:endParaRPr lang="en-US" sz="3000" dirty="0"/>
          </a:p>
        </p:txBody>
      </p:sp>
      <p:sp>
        <p:nvSpPr>
          <p:cNvPr id="3" name="Cloud Box"/>
          <p:cNvSpPr/>
          <p:nvPr/>
        </p:nvSpPr>
        <p:spPr>
          <a:xfrm>
            <a:off x="1280160" y="4023360"/>
            <a:ext cx="3291840" cy="914400"/>
          </a:xfrm>
          <a:prstGeom prst="rect">
            <a:avLst/>
          </a:prstGeom>
          <a:solidFill>
            <a:schemeClr val="accent2">
              <a:alpha val="2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Diagram Label"/>
          <p:cNvSpPr txBox="1"/>
          <p:nvPr/>
        </p:nvSpPr>
        <p:spPr>
          <a:xfrm>
            <a:off x="137160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구름 박스</a:t>
            </a:r>
            <a:endParaRPr lang="en-US" sz="1100" dirty="0"/>
          </a:p>
        </p:txBody>
      </p:sp>
      <p:sp>
        <p:nvSpPr>
          <p:cNvPr id="5" name="Projection"/>
          <p:cNvSpPr/>
          <p:nvPr/>
        </p:nvSpPr>
        <p:spPr>
          <a:xfrm flipV="1">
            <a:off x="1280160" y="1746531"/>
            <a:ext cx="1499707" cy="2276829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6" name="Projection"/>
          <p:cNvSpPr/>
          <p:nvPr/>
        </p:nvSpPr>
        <p:spPr>
          <a:xfrm flipV="1">
            <a:off x="4572000" y="3258309"/>
            <a:ext cx="503926" cy="76505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7" name="Projection"/>
          <p:cNvSpPr/>
          <p:nvPr/>
        </p:nvSpPr>
        <p:spPr>
          <a:xfrm flipV="1">
            <a:off x="1280160" y="2023389"/>
            <a:ext cx="1919646" cy="2914371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8" name="Projection"/>
          <p:cNvSpPr/>
          <p:nvPr/>
        </p:nvSpPr>
        <p:spPr>
          <a:xfrm flipV="1">
            <a:off x="4572000" y="3535166"/>
            <a:ext cx="923864" cy="1402594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9" name="Light Plane"/>
          <p:cNvSpPr/>
          <p:nvPr/>
        </p:nvSpPr>
        <p:spPr>
          <a:xfrm>
            <a:off x="2322658" y="1444478"/>
            <a:ext cx="3631320" cy="2391888"/>
          </a:xfrm>
          <a:prstGeom prst="line">
            <a:avLst/>
          </a:prstGeom>
          <a:noFill/>
          <a:ln w="15875">
            <a:solidFill>
              <a:schemeClr val="tx2"/>
            </a:solidFill>
            <a:prstDash val="solid"/>
          </a:ln>
        </p:spPr>
      </p:sp>
      <p:sp>
        <p:nvSpPr>
          <p:cNvPr id="10" name="Map Extent"/>
          <p:cNvSpPr/>
          <p:nvPr/>
        </p:nvSpPr>
        <p:spPr>
          <a:xfrm>
            <a:off x="2780773" y="1746230"/>
            <a:ext cx="2715091" cy="1788384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</p:sp>
      <p:sp>
        <p:nvSpPr>
          <p:cNvPr id="11" name="Diagram Label"/>
          <p:cNvSpPr txBox="1"/>
          <p:nvPr/>
        </p:nvSpPr>
        <p:spPr>
          <a:xfrm>
            <a:off x="3866284" y="2037603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그림자 맵 범위</a:t>
            </a:r>
            <a:endParaRPr lang="en-US" sz="1300" dirty="0"/>
          </a:p>
        </p:txBody>
      </p:sp>
      <p:sp>
        <p:nvSpPr>
          <p:cNvPr id="12" name="Sun"/>
          <p:cNvSpPr/>
          <p:nvPr/>
        </p:nvSpPr>
        <p:spPr>
          <a:xfrm>
            <a:off x="6711696" y="122529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Diagram Label"/>
          <p:cNvSpPr txBox="1"/>
          <p:nvPr/>
        </p:nvSpPr>
        <p:spPr>
          <a:xfrm>
            <a:off x="6492240" y="1719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14" name="Sun Dir"/>
          <p:cNvSpPr/>
          <p:nvPr/>
        </p:nvSpPr>
        <p:spPr>
          <a:xfrm flipH="1">
            <a:off x="6117336" y="1783080"/>
            <a:ext cx="603504" cy="916229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Diagram Label"/>
          <p:cNvSpPr txBox="1"/>
          <p:nvPr/>
        </p:nvSpPr>
        <p:spPr>
          <a:xfrm>
            <a:off x="548640" y="5486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꼭짓점 8개를 태양 평면에 투영 → 구름에만 해상도 사용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7680960" y="1280160"/>
            <a:ext cx="395935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rd Dot"/>
          <p:cNvSpPr/>
          <p:nvPr/>
        </p:nvSpPr>
        <p:spPr>
          <a:xfrm>
            <a:off x="7909560" y="15087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Card Title"/>
          <p:cNvSpPr txBox="1"/>
          <p:nvPr/>
        </p:nvSpPr>
        <p:spPr>
          <a:xfrm>
            <a:off x="8321040" y="144475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해상도 · 형식</a:t>
            </a:r>
            <a:endParaRPr lang="en-US" sz="1600" dirty="0"/>
          </a:p>
        </p:txBody>
      </p:sp>
      <p:sp>
        <p:nvSpPr>
          <p:cNvPr id="19" name="Card Body"/>
          <p:cNvSpPr txBox="1"/>
          <p:nvPr/>
        </p:nvSpPr>
        <p:spPr>
          <a:xfrm>
            <a:off x="7909560" y="196596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1024², 16비트 실수 4채널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해가 낮으면 범위가 길어져 텍셀이 커짐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7680960" y="2880360"/>
            <a:ext cx="395935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 Dot"/>
          <p:cNvSpPr/>
          <p:nvPr/>
        </p:nvSpPr>
        <p:spPr>
          <a:xfrm>
            <a:off x="7909560" y="31089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ard Title"/>
          <p:cNvSpPr txBox="1"/>
          <p:nvPr/>
        </p:nvSpPr>
        <p:spPr>
          <a:xfrm>
            <a:off x="8321040" y="304495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노이즈 밉 = 텍셀 크기</a:t>
            </a:r>
            <a:endParaRPr lang="en-US" sz="1600" dirty="0"/>
          </a:p>
        </p:txBody>
      </p:sp>
      <p:sp>
        <p:nvSpPr>
          <p:cNvPr id="23" name="Card Body"/>
          <p:cNvSpPr txBox="1"/>
          <p:nvPr/>
        </p:nvSpPr>
        <p:spPr>
          <a:xfrm>
            <a:off x="7909560" y="356616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텍셀보다 작은 디테일은 미리 흐림 → 그림자 반짝임 방지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7680960" y="4480560"/>
            <a:ext cx="3959352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ard Dot"/>
          <p:cNvSpPr/>
          <p:nvPr/>
        </p:nvSpPr>
        <p:spPr>
          <a:xfrm>
            <a:off x="7909560" y="47091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Card Title"/>
          <p:cNvSpPr txBox="1"/>
          <p:nvPr/>
        </p:nvSpPr>
        <p:spPr>
          <a:xfrm>
            <a:off x="8321040" y="4645152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밀도</a:t>
            </a:r>
            <a:endParaRPr lang="en-US" sz="1600" dirty="0"/>
          </a:p>
        </p:txBody>
      </p:sp>
      <p:sp>
        <p:nvSpPr>
          <p:cNvPr id="27" name="Card Body"/>
          <p:cNvSpPr txBox="1"/>
          <p:nvPr/>
        </p:nvSpPr>
        <p:spPr>
          <a:xfrm>
            <a:off x="7909560" y="5166360"/>
            <a:ext cx="3502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노이즈로 깎은 실제 밀도, SDF 건너뛰기, 16m 스텝</a:t>
            </a:r>
            <a:endParaRPr lang="en-US" sz="1300" dirty="0"/>
          </a:p>
        </p:txBody>
      </p:sp>
      <p:sp>
        <p:nvSpPr>
          <p:cNvPr id="28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지형에 적용</a:t>
            </a:r>
            <a:endParaRPr lang="en-US" sz="3000" dirty="0"/>
          </a:p>
        </p:txBody>
      </p:sp>
      <p:sp>
        <p:nvSpPr>
          <p:cNvPr id="3" name="Sun"/>
          <p:cNvSpPr/>
          <p:nvPr/>
        </p:nvSpPr>
        <p:spPr>
          <a:xfrm>
            <a:off x="841248" y="12070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Diagram Label"/>
          <p:cNvSpPr txBox="1"/>
          <p:nvPr/>
        </p:nvSpPr>
        <p:spPr>
          <a:xfrm>
            <a:off x="64008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5" name="Cloud"/>
          <p:cNvSpPr/>
          <p:nvPr/>
        </p:nvSpPr>
        <p:spPr>
          <a:xfrm>
            <a:off x="2103120" y="2011680"/>
            <a:ext cx="2011680" cy="91440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6" name="Cloud"/>
          <p:cNvSpPr/>
          <p:nvPr/>
        </p:nvSpPr>
        <p:spPr>
          <a:xfrm>
            <a:off x="1861718" y="2235708"/>
            <a:ext cx="1207008" cy="68580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7" name="Cloud"/>
          <p:cNvSpPr/>
          <p:nvPr/>
        </p:nvSpPr>
        <p:spPr>
          <a:xfrm>
            <a:off x="3129077" y="2194560"/>
            <a:ext cx="1247242" cy="73152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8" name="Cloud"/>
          <p:cNvSpPr/>
          <p:nvPr/>
        </p:nvSpPr>
        <p:spPr>
          <a:xfrm>
            <a:off x="2606040" y="1920240"/>
            <a:ext cx="1207008" cy="6400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9" name="Shadow Edge"/>
          <p:cNvSpPr/>
          <p:nvPr/>
        </p:nvSpPr>
        <p:spPr>
          <a:xfrm>
            <a:off x="2194560" y="2651760"/>
            <a:ext cx="1202076" cy="21945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0" name="Shadow Edge"/>
          <p:cNvSpPr/>
          <p:nvPr/>
        </p:nvSpPr>
        <p:spPr>
          <a:xfrm>
            <a:off x="4023360" y="2651760"/>
            <a:ext cx="1202076" cy="219456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1" name="Cloud Shadow"/>
          <p:cNvSpPr/>
          <p:nvPr/>
        </p:nvSpPr>
        <p:spPr>
          <a:xfrm>
            <a:off x="3396636" y="4773168"/>
            <a:ext cx="1828800" cy="146304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sp>
        <p:nvSpPr>
          <p:cNvPr id="12" name="Diagram Label"/>
          <p:cNvSpPr txBox="1"/>
          <p:nvPr/>
        </p:nvSpPr>
        <p:spPr>
          <a:xfrm>
            <a:off x="3396636" y="4983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구름 그림자 (반투명)</a:t>
            </a:r>
            <a:endParaRPr lang="en-US" sz="1200" dirty="0"/>
          </a:p>
        </p:txBody>
      </p:sp>
      <p:sp>
        <p:nvSpPr>
          <p:cNvPr id="13" name="Mountain"/>
          <p:cNvSpPr/>
          <p:nvPr/>
        </p:nvSpPr>
        <p:spPr>
          <a:xfrm flipH="1">
            <a:off x="731520" y="3931920"/>
            <a:ext cx="914400" cy="914400"/>
          </a:xfrm>
          <a:prstGeom prst="rtTriangle">
            <a:avLst/>
          </a:prstGeom>
          <a:solidFill>
            <a:schemeClr val="accent6">
              <a:alpha val="70000"/>
            </a:schemeClr>
          </a:solidFill>
          <a:ln/>
        </p:spPr>
      </p:sp>
      <p:sp>
        <p:nvSpPr>
          <p:cNvPr id="14" name="Mountain Shadow"/>
          <p:cNvSpPr/>
          <p:nvPr/>
        </p:nvSpPr>
        <p:spPr>
          <a:xfrm>
            <a:off x="1645920" y="4773168"/>
            <a:ext cx="502920" cy="146304"/>
          </a:xfrm>
          <a:prstGeom prst="rect">
            <a:avLst/>
          </a:prstGeom>
          <a:solidFill>
            <a:schemeClr val="tx1">
              <a:alpha val="80000"/>
            </a:schemeClr>
          </a:solidFill>
          <a:ln/>
        </p:spPr>
      </p:sp>
      <p:sp>
        <p:nvSpPr>
          <p:cNvPr id="15" name="Ground"/>
          <p:cNvSpPr/>
          <p:nvPr/>
        </p:nvSpPr>
        <p:spPr>
          <a:xfrm>
            <a:off x="548640" y="4846320"/>
            <a:ext cx="585216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6" name="Diagram Label"/>
          <p:cNvSpPr txBox="1"/>
          <p:nvPr/>
        </p:nvSpPr>
        <p:spPr>
          <a:xfrm>
            <a:off x="548640" y="5303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산 그림자 (불투명, 기존 그림자 맵)</a:t>
            </a:r>
            <a:endParaRPr lang="en-US" sz="1200" dirty="0"/>
          </a:p>
        </p:txBody>
      </p:sp>
      <p:sp>
        <p:nvSpPr>
          <p:cNvPr id="17" name="Formula Box"/>
          <p:cNvSpPr/>
          <p:nvPr/>
        </p:nvSpPr>
        <p:spPr>
          <a:xfrm>
            <a:off x="6766560" y="1280160"/>
            <a:ext cx="487375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Formula terrain" descr="E'_{sun} = V_{shadow}\; T_{cloud}\; E_{sun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848" y="1549428"/>
            <a:ext cx="3459175" cy="330144"/>
          </a:xfrm>
          <a:prstGeom prst="rect">
            <a:avLst/>
          </a:prstGeom>
        </p:spPr>
      </p:pic>
      <p:sp>
        <p:nvSpPr>
          <p:cNvPr id="19" name="Body Text"/>
          <p:cNvSpPr txBox="1"/>
          <p:nvPr/>
        </p:nvSpPr>
        <p:spPr>
          <a:xfrm>
            <a:off x="6766560" y="2377440"/>
            <a:ext cx="48737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태양 직접광에만 곱함, 환경광(IBL)은 그대로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산 그림자와 구름 그림자는 서로 독립 → 곱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맵 범위 밖은 그림자 없음</a:t>
            </a:r>
            <a:endParaRPr lang="en-US" sz="1400" dirty="0"/>
          </a:p>
        </p:txBody>
      </p:sp>
      <p:sp>
        <p:nvSpPr>
          <p:cNvPr id="20" name="TODO Image Placeholder"/>
          <p:cNvSpPr/>
          <p:nvPr/>
        </p:nvSpPr>
        <p:spPr>
          <a:xfrm>
            <a:off x="6766560" y="4023360"/>
            <a:ext cx="4873752" cy="21488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21" name="TODO Image Label"/>
          <p:cNvSpPr txBox="1"/>
          <p:nvPr/>
        </p:nvSpPr>
        <p:spPr>
          <a:xfrm>
            <a:off x="6949440" y="4023360"/>
            <a:ext cx="450799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태양을 돌리며 그림자가 이동하는 캡처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(해가 낮으면 길게 늘어남)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대기 빛줄기 (Light Shaft)</a:t>
            </a:r>
            <a:endParaRPr lang="en-US" sz="3000" dirty="0"/>
          </a:p>
        </p:txBody>
      </p:sp>
      <p:sp>
        <p:nvSpPr>
          <p:cNvPr id="3" name="Camera Body"/>
          <p:cNvSpPr/>
          <p:nvPr/>
        </p:nvSpPr>
        <p:spPr>
          <a:xfrm>
            <a:off x="594360" y="4325112"/>
            <a:ext cx="365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amera Lens"/>
          <p:cNvSpPr/>
          <p:nvPr/>
        </p:nvSpPr>
        <p:spPr>
          <a:xfrm rot="5400000">
            <a:off x="914400" y="4352544"/>
            <a:ext cx="256032" cy="182880"/>
          </a:xfrm>
          <a:prstGeom prst="triangl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Diagram Label"/>
          <p:cNvSpPr txBox="1"/>
          <p:nvPr/>
        </p:nvSpPr>
        <p:spPr>
          <a:xfrm>
            <a:off x="36576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카메라</a:t>
            </a:r>
            <a:endParaRPr lang="en-US" sz="1100" dirty="0"/>
          </a:p>
        </p:txBody>
      </p:sp>
      <p:sp>
        <p:nvSpPr>
          <p:cNvPr id="6" name="Sun"/>
          <p:cNvSpPr/>
          <p:nvPr/>
        </p:nvSpPr>
        <p:spPr>
          <a:xfrm>
            <a:off x="1225296" y="108813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iagram Label"/>
          <p:cNvSpPr txBox="1"/>
          <p:nvPr/>
        </p:nvSpPr>
        <p:spPr>
          <a:xfrm>
            <a:off x="1005840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태양</a:t>
            </a:r>
            <a:endParaRPr lang="en-US" sz="1100" dirty="0"/>
          </a:p>
        </p:txBody>
      </p:sp>
      <p:sp>
        <p:nvSpPr>
          <p:cNvPr id="8" name="Cloud"/>
          <p:cNvSpPr/>
          <p:nvPr/>
        </p:nvSpPr>
        <p:spPr>
          <a:xfrm>
            <a:off x="2148840" y="1463040"/>
            <a:ext cx="1188720" cy="54864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9" name="Cloud"/>
          <p:cNvSpPr/>
          <p:nvPr/>
        </p:nvSpPr>
        <p:spPr>
          <a:xfrm>
            <a:off x="2006194" y="1597457"/>
            <a:ext cx="713232" cy="4114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0" name="Cloud"/>
          <p:cNvSpPr/>
          <p:nvPr/>
        </p:nvSpPr>
        <p:spPr>
          <a:xfrm>
            <a:off x="2755087" y="1572768"/>
            <a:ext cx="737006" cy="438912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1" name="Cloud"/>
          <p:cNvSpPr/>
          <p:nvPr/>
        </p:nvSpPr>
        <p:spPr>
          <a:xfrm>
            <a:off x="2446020" y="1408176"/>
            <a:ext cx="713232" cy="384048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2" name="Shadow Edge"/>
          <p:cNvSpPr/>
          <p:nvPr/>
        </p:nvSpPr>
        <p:spPr>
          <a:xfrm>
            <a:off x="2286000" y="1965960"/>
            <a:ext cx="1131570" cy="2514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3" name="Shadow Edge"/>
          <p:cNvSpPr/>
          <p:nvPr/>
        </p:nvSpPr>
        <p:spPr>
          <a:xfrm>
            <a:off x="3200400" y="1965960"/>
            <a:ext cx="1131570" cy="2514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4" name="Cloud"/>
          <p:cNvSpPr/>
          <p:nvPr/>
        </p:nvSpPr>
        <p:spPr>
          <a:xfrm>
            <a:off x="4343400" y="1463040"/>
            <a:ext cx="1188720" cy="54864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5" name="Cloud"/>
          <p:cNvSpPr/>
          <p:nvPr/>
        </p:nvSpPr>
        <p:spPr>
          <a:xfrm>
            <a:off x="4200754" y="1597457"/>
            <a:ext cx="713232" cy="411480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6" name="Cloud"/>
          <p:cNvSpPr/>
          <p:nvPr/>
        </p:nvSpPr>
        <p:spPr>
          <a:xfrm>
            <a:off x="4949647" y="1572768"/>
            <a:ext cx="737006" cy="438912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7" name="Cloud"/>
          <p:cNvSpPr/>
          <p:nvPr/>
        </p:nvSpPr>
        <p:spPr>
          <a:xfrm>
            <a:off x="4640580" y="1408176"/>
            <a:ext cx="713232" cy="384048"/>
          </a:xfrm>
          <a:prstGeom prst="ellipse">
            <a:avLst/>
          </a:prstGeom>
          <a:solidFill>
            <a:schemeClr val="accent2">
              <a:alpha val="35000"/>
            </a:schemeClr>
          </a:solidFill>
          <a:ln/>
        </p:spPr>
      </p:sp>
      <p:sp>
        <p:nvSpPr>
          <p:cNvPr id="18" name="Shadow Edge"/>
          <p:cNvSpPr/>
          <p:nvPr/>
        </p:nvSpPr>
        <p:spPr>
          <a:xfrm>
            <a:off x="4480560" y="1965960"/>
            <a:ext cx="1131570" cy="2514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19" name="Shadow Edge"/>
          <p:cNvSpPr/>
          <p:nvPr/>
        </p:nvSpPr>
        <p:spPr>
          <a:xfrm>
            <a:off x="5394960" y="1965960"/>
            <a:ext cx="1131570" cy="251460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20" name="Lit Segment"/>
          <p:cNvSpPr/>
          <p:nvPr/>
        </p:nvSpPr>
        <p:spPr>
          <a:xfrm>
            <a:off x="1188720" y="4480560"/>
            <a:ext cx="2228850" cy="91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1" name="Shadowed Segment"/>
          <p:cNvSpPr/>
          <p:nvPr/>
        </p:nvSpPr>
        <p:spPr>
          <a:xfrm>
            <a:off x="3417570" y="4480560"/>
            <a:ext cx="914400" cy="914"/>
          </a:xfrm>
          <a:prstGeom prst="line">
            <a:avLst/>
          </a:prstGeom>
          <a:noFill/>
          <a:ln w="50800">
            <a:solidFill>
              <a:schemeClr val="accent6"/>
            </a:solidFill>
            <a:prstDash val="solid"/>
          </a:ln>
        </p:spPr>
      </p:sp>
      <p:sp>
        <p:nvSpPr>
          <p:cNvPr id="22" name="Lit Segment"/>
          <p:cNvSpPr/>
          <p:nvPr/>
        </p:nvSpPr>
        <p:spPr>
          <a:xfrm>
            <a:off x="4331970" y="4480560"/>
            <a:ext cx="1280160" cy="91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3" name="Shadowed Segment"/>
          <p:cNvSpPr/>
          <p:nvPr/>
        </p:nvSpPr>
        <p:spPr>
          <a:xfrm>
            <a:off x="5612130" y="4480560"/>
            <a:ext cx="914400" cy="914"/>
          </a:xfrm>
          <a:prstGeom prst="line">
            <a:avLst/>
          </a:prstGeom>
          <a:noFill/>
          <a:ln w="50800">
            <a:solidFill>
              <a:schemeClr val="accent6"/>
            </a:solidFill>
            <a:prstDash val="solid"/>
          </a:ln>
        </p:spPr>
      </p:sp>
      <p:sp>
        <p:nvSpPr>
          <p:cNvPr id="24" name="Lit Segment"/>
          <p:cNvSpPr/>
          <p:nvPr/>
        </p:nvSpPr>
        <p:spPr>
          <a:xfrm>
            <a:off x="6526530" y="4480560"/>
            <a:ext cx="148590" cy="91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</a:ln>
        </p:spPr>
      </p:sp>
      <p:sp>
        <p:nvSpPr>
          <p:cNvPr id="25" name="Diagram Label"/>
          <p:cNvSpPr txBox="1"/>
          <p:nvPr/>
        </p:nvSpPr>
        <p:spPr>
          <a:xfrm>
            <a:off x="118872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햇빛 받는 구간: 산란 유지</a:t>
            </a:r>
            <a:endParaRPr lang="en-US" sz="1200" dirty="0"/>
          </a:p>
        </p:txBody>
      </p:sp>
      <p:sp>
        <p:nvSpPr>
          <p:cNvPr id="26" name="Diagram Label"/>
          <p:cNvSpPr txBox="1"/>
          <p:nvPr/>
        </p:nvSpPr>
        <p:spPr>
          <a:xfrm>
            <a:off x="310896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그림자 구간: 산란 증가분 제거</a:t>
            </a:r>
            <a:endParaRPr lang="en-US" sz="1200" dirty="0"/>
          </a:p>
        </p:txBody>
      </p:sp>
      <p:sp>
        <p:nvSpPr>
          <p:cNvPr id="27" name="Formula Box"/>
          <p:cNvSpPr/>
          <p:nvPr/>
        </p:nvSpPr>
        <p:spPr>
          <a:xfrm>
            <a:off x="548640" y="544068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8" name="Formula shaft" descr="\Delta L = \sum_i \Delta AP_i\,(1 - V_i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463" y="5554980"/>
            <a:ext cx="2711393" cy="548640"/>
          </a:xfrm>
          <a:prstGeom prst="rect">
            <a:avLst/>
          </a:prstGeom>
        </p:spPr>
      </p:pic>
      <p:sp>
        <p:nvSpPr>
          <p:cNvPr id="29" name="Body Text"/>
          <p:cNvSpPr txBox="1"/>
          <p:nvPr/>
        </p:nvSpPr>
        <p:spPr>
          <a:xfrm>
            <a:off x="6949440" y="1280160"/>
            <a:ext cx="46908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 볼륨은 그림자를 모름 → 그림자 구간의 산란만 빼기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구간 산란량은 기존 AP 볼륨의 차이로 재사용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32스텝, 최대 16km, IGN으로 샘플 위치 지터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32³ 볼륨으로는 수십 m 그림자 경계 표현 불가 → 픽셀 단위</a:t>
            </a:r>
            <a:endParaRPr lang="en-US" sz="1400" dirty="0"/>
          </a:p>
        </p:txBody>
      </p:sp>
      <p:sp>
        <p:nvSpPr>
          <p:cNvPr id="30" name="TODO Image Placeholder"/>
          <p:cNvSpPr/>
          <p:nvPr/>
        </p:nvSpPr>
        <p:spPr>
          <a:xfrm>
            <a:off x="6949440" y="3931920"/>
            <a:ext cx="4690872" cy="182880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31" name="TODO Image Label"/>
          <p:cNvSpPr txBox="1"/>
          <p:nvPr/>
        </p:nvSpPr>
        <p:spPr>
          <a:xfrm>
            <a:off x="7132320" y="3931920"/>
            <a:ext cx="4325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구름 틈 빛줄기 캡처</a:t>
            </a:r>
            <a:endParaRPr lang="en-US" sz="1300" dirty="0"/>
          </a:p>
        </p:txBody>
      </p:sp>
      <p:sp>
        <p:nvSpPr>
          <p:cNvPr id="32" name="Diagram Label"/>
          <p:cNvSpPr txBox="1"/>
          <p:nvPr/>
        </p:nvSpPr>
        <p:spPr>
          <a:xfrm>
            <a:off x="6949440" y="580644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한계: 다중 산란 성분까지 빼서 실제보다 조금 진함</a:t>
            </a:r>
            <a:endParaRPr lang="en-US" sz="1200" dirty="0"/>
          </a:p>
        </p:txBody>
      </p:sp>
      <p:sp>
        <p:nvSpPr>
          <p:cNvPr id="33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2020, AP 절 (볼륨 그림자 언급)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성능 (측정표)</a:t>
            </a:r>
            <a:endParaRPr lang="en-US" sz="3000" dirty="0"/>
          </a:p>
        </p:txBody>
      </p:sp>
      <p:sp>
        <p:nvSpPr>
          <p:cNvPr id="3" name="TODO Measure Info"/>
          <p:cNvSpPr txBox="1"/>
          <p:nvPr/>
        </p:nvSpPr>
        <p:spPr>
          <a:xfrm>
            <a:off x="548640" y="1188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GPU: ____  /  해상도: ____  /  측정 위치: ____</a:t>
            </a:r>
            <a:endParaRPr lang="en-US" sz="14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4572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패스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시간 (ms)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Transmittance LUT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Multi Scattering LUT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Sky View LUT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 Volume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 Apply (+빛줄기)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Sky Composite (+빛줄기)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Shadow Map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Cloud Raymarching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ODO Image Placeholder"/>
          <p:cNvSpPr/>
          <p:nvPr/>
        </p:nvSpPr>
        <p:spPr>
          <a:xfrm>
            <a:off x="5486400" y="1737360"/>
            <a:ext cx="6153912" cy="329184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6" name="TODO Image Label"/>
          <p:cNvSpPr txBox="1"/>
          <p:nvPr/>
        </p:nvSpPr>
        <p:spPr>
          <a:xfrm>
            <a:off x="5669280" y="1737360"/>
            <a:ext cx="578815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[이미지 넣기]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패스별 시간 막대 그래프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(측정 후 표 값으로 작성)</a:t>
            </a:r>
            <a:endParaRPr lang="en-US" sz="1300" dirty="0"/>
          </a:p>
        </p:txBody>
      </p:sp>
      <p:sp>
        <p:nvSpPr>
          <p:cNvPr id="7" name="Diagram Label"/>
          <p:cNvSpPr txBox="1"/>
          <p:nvPr/>
        </p:nvSpPr>
        <p:spPr>
          <a:xfrm>
            <a:off x="5486400" y="5212080"/>
            <a:ext cx="6153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참고: 대기 0.31ms (GTX 1080, 720p) · 복셀 구름 2.2~4ms (PS5, 960×540)</a:t>
            </a:r>
            <a:endParaRPr lang="en-US" sz="1300" dirty="0"/>
          </a:p>
        </p:txBody>
      </p:sp>
      <p:sp>
        <p:nvSpPr>
          <p:cNvPr id="8" name="Source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출처: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Hillaire 2020</a:t>
            </a:r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  ·  </a:t>
            </a:r>
            <a:pPr indent="0" marL="0">
              <a:buNone/>
            </a:pPr>
            <a:r>
              <a:rPr lang="en-US" sz="1000" u="sng" dirty="0">
                <a:solidFill>
                  <a:schemeClr val="accent6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Schneider 2023, Nubis³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문제와 해결</a:t>
            </a:r>
            <a:endParaRPr lang="en-US" sz="3000" dirty="0"/>
          </a:p>
        </p:txBody>
      </p:sp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937760"/>
                <a:gridCol w="3502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문제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원인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해결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태양 주변 줄무늬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cm 단위 큰 월드 좌표 → 시선 방향 정밀도 부족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카메라 기준 좌표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SDF가 슬라이스와 무관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DDS 변환 때 휘도 변환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4채널로 변환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셰이더 헤더 미생성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파일별 Shader Model이 5.x로 기록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SM 6.2 지정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해가 진 뒤에도 산이 밝음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흰 상수 태양 + 정적 IBL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대기 투과율, IBL 강도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구름이 작음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Pack의 실제 구름 영역이 작고, 키우면 반복 패턴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새 구름 생성 방식 검토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다음 주 (3주차)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5661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Dot"/>
          <p:cNvSpPr/>
          <p:nvPr/>
        </p:nvSpPr>
        <p:spPr>
          <a:xfrm>
            <a:off x="777240" y="15087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ard Title"/>
          <p:cNvSpPr txBox="1"/>
          <p:nvPr/>
        </p:nvSpPr>
        <p:spPr>
          <a:xfrm>
            <a:off x="1188720" y="1444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조명 격자</a:t>
            </a:r>
            <a:endParaRPr lang="en-US" sz="1600" dirty="0"/>
          </a:p>
        </p:txBody>
      </p:sp>
      <p:sp>
        <p:nvSpPr>
          <p:cNvPr id="6" name="Card Body"/>
          <p:cNvSpPr txBox="1"/>
          <p:nvPr/>
        </p:nvSpPr>
        <p:spPr>
          <a:xfrm>
            <a:off x="77724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구름 자기 그림자를 복셀에 저장, 분할 갱신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4311396" y="1280160"/>
            <a:ext cx="35661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Dot"/>
          <p:cNvSpPr/>
          <p:nvPr/>
        </p:nvSpPr>
        <p:spPr>
          <a:xfrm>
            <a:off x="4539996" y="150876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Card Title"/>
          <p:cNvSpPr txBox="1"/>
          <p:nvPr/>
        </p:nvSpPr>
        <p:spPr>
          <a:xfrm>
            <a:off x="4951476" y="1444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구름 좌표계 + 바람</a:t>
            </a:r>
            <a:endParaRPr lang="en-US" sz="1600" dirty="0"/>
          </a:p>
        </p:txBody>
      </p:sp>
      <p:sp>
        <p:nvSpPr>
          <p:cNvPr id="10" name="Card Body"/>
          <p:cNvSpPr txBox="1"/>
          <p:nvPr/>
        </p:nvSpPr>
        <p:spPr>
          <a:xfrm>
            <a:off x="4539996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구름과 이후 흔적이 함께 흐름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8074152" y="1280160"/>
            <a:ext cx="35661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ard Dot"/>
          <p:cNvSpPr/>
          <p:nvPr/>
        </p:nvSpPr>
        <p:spPr>
          <a:xfrm>
            <a:off x="8302752" y="15087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Card Title"/>
          <p:cNvSpPr txBox="1"/>
          <p:nvPr/>
        </p:nvSpPr>
        <p:spPr>
          <a:xfrm>
            <a:off x="8714232" y="1444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반해상도 + 재구성</a:t>
            </a:r>
            <a:endParaRPr lang="en-US" sz="1600" dirty="0"/>
          </a:p>
        </p:txBody>
      </p:sp>
      <p:sp>
        <p:nvSpPr>
          <p:cNvPr id="14" name="Card Body"/>
          <p:cNvSpPr txBox="1"/>
          <p:nvPr/>
        </p:nvSpPr>
        <p:spPr>
          <a:xfrm>
            <a:off x="8302752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레이마칭 비용 절감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291840"/>
            <a:ext cx="35661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ard Dot"/>
          <p:cNvSpPr/>
          <p:nvPr/>
        </p:nvSpPr>
        <p:spPr>
          <a:xfrm>
            <a:off x="777240" y="352044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Card Title"/>
          <p:cNvSpPr txBox="1"/>
          <p:nvPr/>
        </p:nvSpPr>
        <p:spPr>
          <a:xfrm>
            <a:off x="1188720" y="3456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기준 성능 측정표</a:t>
            </a:r>
            <a:endParaRPr lang="en-US" sz="1600" dirty="0"/>
          </a:p>
        </p:txBody>
      </p:sp>
      <p:sp>
        <p:nvSpPr>
          <p:cNvPr id="18" name="Card Body"/>
          <p:cNvSpPr txBox="1"/>
          <p:nvPr/>
        </p:nvSpPr>
        <p:spPr>
          <a:xfrm>
            <a:off x="777240" y="3977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적용 전후 시간 기록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4311396" y="3291840"/>
            <a:ext cx="356616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 Dot"/>
          <p:cNvSpPr/>
          <p:nvPr/>
        </p:nvSpPr>
        <p:spPr>
          <a:xfrm>
            <a:off x="4539996" y="352044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Card Title"/>
          <p:cNvSpPr txBox="1"/>
          <p:nvPr/>
        </p:nvSpPr>
        <p:spPr>
          <a:xfrm>
            <a:off x="4951476" y="34564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구름 배치/생성</a:t>
            </a:r>
            <a:endParaRPr lang="en-US" sz="1600" dirty="0"/>
          </a:p>
        </p:txBody>
      </p:sp>
      <p:sp>
        <p:nvSpPr>
          <p:cNvPr id="22" name="Card Body"/>
          <p:cNvSpPr txBox="1"/>
          <p:nvPr/>
        </p:nvSpPr>
        <p:spPr>
          <a:xfrm>
            <a:off x="4539996" y="3977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다양한 구름 형태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참고 자료</a:t>
            </a:r>
            <a:endParaRPr lang="en-US" sz="30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4023360"/>
                <a:gridCol w="13990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사용한 곳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링크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Hillaire 2020, Scalable Sky and Atmosphere (EGSR)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AP, 태양 투과율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Hillaire 2016, PB Sky, Atmosphere and Cloud in Frostbite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BSM, 이중 HG, Octave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PPTX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Hillaire 2015, PB Unified Volumetric Rendering in Frostbite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에너지 보존 적분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Schneider 2015 / 2017, Nubis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Nubis 1세대, 빛 마칭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Schneider 2022, Nubis Evolved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구름의 AP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Schneider 2023, Nubis³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NVDF, 밀도, SDF 레이마칭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PDF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Nubis Voxel Cloud Pack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구름/노이즈 데이터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다운로드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Wrenninge et al. 2013, Oz: The Great and Volumetric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Octave 다중 산란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Jimenez 2014, CoD: AW Post Processing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IGN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9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PPTX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Frostnova (UPenn CIS5650)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근거리 페이드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chemeClr val="tx1"/>
                          </a:solidFill>
                          <a:hlinkClick r:id="rId10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GitHub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sk Sky">
  <a:themeElements>
    <a:clrScheme name="Dusk Sky">
      <a:dk1>
        <a:srgbClr val="1A1D2E"/>
      </a:dk1>
      <a:lt1>
        <a:srgbClr val="FFFFFF"/>
      </a:lt1>
      <a:dk2>
        <a:srgbClr val="23264A"/>
      </a:dk2>
      <a:lt2>
        <a:srgbClr val="EEF1F6"/>
      </a:lt2>
      <a:accent1>
        <a:srgbClr val="F28C38"/>
      </a:accent1>
      <a:accent2>
        <a:srgbClr val="3FA7D6"/>
      </a:accent2>
      <a:accent3>
        <a:srgbClr val="7A6FD0"/>
      </a:accent3>
      <a:accent4>
        <a:srgbClr val="4FAE7E"/>
      </a:accent4>
      <a:accent5>
        <a:srgbClr val="D95B5B"/>
      </a:accent5>
      <a:accent6>
        <a:srgbClr val="8A93A6"/>
      </a:accent6>
      <a:hlink>
        <a:srgbClr val="2B7BB9"/>
      </a:hlink>
      <a:folHlink>
        <a:srgbClr val="7A6FD0"/>
      </a:folHlink>
    </a:clrScheme>
    <a:fontScheme name="Dusk Sk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2주차 발표: Aerial Perspective, 복셀 구름, 구름 그림자</dc:title>
  <dc:subject>PptxGenJS Presentation</dc:subject>
  <dc:creator>PptxGenJS</dc:creator>
  <cp:lastModifiedBy>PptxGenJS</cp:lastModifiedBy>
  <cp:revision>1</cp:revision>
  <dcterms:created xsi:type="dcterms:W3CDTF">2026-10-29T17:22:53Z</dcterms:created>
  <dcterms:modified xsi:type="dcterms:W3CDTF">2026-10-29T17:22:53Z</dcterms:modified>
</cp:coreProperties>
</file>